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27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8"/>
    <p:sldId id="274" r:id="rId20"/>
    <p:sldId id="275" r:id="rId21"/>
    <p:sldId id="278" r:id="rId29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9.xml"/><Relationship Id="rId28" Type="http://schemas.openxmlformats.org/officeDocument/2006/relationships/slide" Target="slides/slide20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slide. Introduce yourselves (Giuseppe + Nicolas), mention the tutor (Delfino), and frame the talk as an experimental comparison — emphasize that we measured rather than just discussed.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research question. Skip narration of bullets — read the central quote, then say: 'Decades of relational optimisation versus a model where relationships ARE data. Today's experiment answers this empirically.'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highlights. 26k matches, 917k events from XML parsing — emphasize that data quality matters: we'll see in 5 slides how the integration of XML events created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schema. Show the ER diagram (right side). 'Same domain, two implementations — we'll see how each system encodes the same idea differently.'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Postgres design choices. 'The Match table in the source had 115 columns including 22 player FKs and 8 XML blobs. We exploded it into 4 normalised tables. This is the standard relational move.'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Neo4j design. 'Same entities, but events become relationships. Look at this snapshot of the actual graph — Lineup_of, Scored_in are not foreign keys, they are first-class objects you can traverse.'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ETL pipeline. 'Fully automated, ~7 minutes end-to-end. The interesting story is the next slide.'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Engineering challenges. Tell each story briefly — orphan FKs, pandas integer NaN, card_type 'y2'. 'These are the realities of real-world data integration. They are NOT in a typical course exercise.'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Methodology pillars. Read each one. 'These three together — warm-up, median, set-equality — eliminate the most common benchmark pitfalls.'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queries, 4 categories. 'A — relational, B — multi-hop, C — graph-native, D — write. The categories are an HYPOTHESIS: do graph systems really win where we think they win?'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table. Highlight: 'All 10 read queries return identical results — verified automatically. Now look at performance.' Don't read row by row — point at Q10's 76x as the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Per-query timing chart. 'Log scale. Postgres wins the leftmost group (A — small joins, OLAP-ish). Neo4j dominates on the right (graph-native).'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Speedup chart. 'Bars above 1 = Neo4j is faster. Q10 is the dramatic case — over 75x.'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 expressiveness. 'Two dimensions: lines (vertical space) and operators (cognitive load). Q10 — 30 lines vs 3, 28 operators vs 3. This is what reads as ELEGANT.'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Q10 code side-by-side. Read briefly: 'A recursive CTE doing BFS — versus shortestPath, a primitive in Cypher. Same answer, two orders of magnitude difference. Note: we use *..12 in Cypher because PLAYED_FOR is directional and we want exactly 6 player-to-player hops to match the SQL limit.'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Q12 schema evolution. 'In Postgres: ALTER + UPDATE — two statements, lock during ALTER. In Neo4j: ONE statement. This is the schema-flexibility dimension OFTEN forgotten in performance benchmarks.'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Index ablation. Real numbers: 'Drop ix_lineup_player from Postgres: 3.6 ms → 11.3 ms, 3.18x slowdown. Drop player_name_idx from Neo4j: 5.1 → 7.8 ms, 1.55x slowdown. Indexes are NOT decoration.'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takeaways. Read each. 'These are the three answers to the research question we asked on slide 2.'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Verdict. Read both columns. 'In production, you often use BOTH — polyglot persistence.'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References. We grounded our work in the literature: Angles &amp; Gutierrez for the survey, Vicknair for the first major comparison study, Holzschuher for query language analysis, LDBC for standardisation, Robinson for the canonical textbook.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Experimental setup. State explicitly: 'MacBook Air M2 (8 cores, 8 GB RAM), Postgres 18.3 Homebrew, Neo4j 2026.04.0 Enterprise community, default configuration on both. Methodology: warm-up + 5 runs, median reported. And — critical — Postgres has a materialized view mirroring Neo4j's PLAYED_FOR, so the comparison is FAIR.'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Limitations. 'A good engineer says what they did NOT measure. Concurrent workload, tuning, scale — these are the next steps.'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Live demo follows: shortest path Messi → Pirlo, then Q02 (Postgres wins), then schema evolution Q12. About 5 minutes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vs Neo4j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experimental comparison on a real-world graph dataset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65760" cy="3657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3246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Giuseppe D'Angelica  </a:t>
            </a:r>
            <a:pPr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github.com/g1up3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 Leone  </a:t>
            </a:r>
            <a:pPr indent="0" marL="0">
              <a:spcAft>
                <a:spcPts val="200"/>
              </a:spcAft>
              <a:buNone/>
            </a:pPr>
            <a:r>
              <a:rPr lang="en-US" sz="15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github.com/theunick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C0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2025/26 — Sapienza Università di Roma</a:t>
            </a:r>
            <a:endParaRPr lang="en-US" sz="1500" dirty="0"/>
          </a:p>
          <a:p>
            <a:r>
              <a:rPr sz="1500">
                <a:solidFill>
                  <a:srgbClr val="F5F7FA"/>
                </a:solidFill>
                <a:latin typeface="Calibri"/>
              </a:rPr>
              <a:t>Tutor: Roberto Maria Delfino  ·  Sapienza Università di Roma</a:t>
            </a:r>
          </a:p>
        </p:txBody>
      </p:sp>
      <p:sp>
        <p:nvSpPr>
          <p:cNvPr id="7" name="Text 5"/>
          <p:cNvSpPr/>
          <p:nvPr/>
        </p:nvSpPr>
        <p:spPr>
          <a:xfrm>
            <a:off x="8412480" y="4526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23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databases for the same data?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does a graph database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beat a relational one?”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3840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3246120"/>
            <a:ext cx="54864" cy="132588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3355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strengths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optimisation, mature planner, B-tree indexes — perfect for OLAP-style aggregations and joins.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3246120"/>
            <a:ext cx="3840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63440" y="3246120"/>
            <a:ext cx="54864" cy="1325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64608" y="3355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strengths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traversal of relationships, no joins. Built for shortest paths, friend-of-friend, communities.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Soccer Database — Hugo Mathien, Kaggle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554480"/>
            <a:ext cx="193395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554480"/>
            <a:ext cx="1933956" cy="7315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83080"/>
            <a:ext cx="17510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25,979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leagues · 8 seasons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55748" y="1554480"/>
            <a:ext cx="193395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55748" y="1554480"/>
            <a:ext cx="193395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47188" y="1783080"/>
            <a:ext cx="17510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11,060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47188" y="242316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47188" y="272491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FIFA-rating snapshots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1554480"/>
            <a:ext cx="193395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54296" y="1554480"/>
            <a:ext cx="1933956" cy="7315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45736" y="1783080"/>
            <a:ext cx="17510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917,815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45736" y="242316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45736" y="272491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raw XML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52844" y="1554480"/>
            <a:ext cx="193395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752844" y="1554480"/>
            <a:ext cx="1933956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44284" y="1783080"/>
            <a:ext cx="17510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542,281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44284" y="242316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 rows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44284" y="272491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11+11 per match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format: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300-MB SQLite file. The Match table is 115 columns wide and contains XML-encoded events that we parsed and normalised.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two implementations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783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1488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148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2514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514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28803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11,060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32461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25,979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3611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MatchEvent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917,815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3977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PlayerStats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0" y="3977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183,978 snapshots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38912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7240" y="4343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TeamStats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4343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1,458 snapshots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pic>
        <p:nvPicPr>
          <p:cNvPr id="49" name="Picture 48" descr="schema_ER_mermaid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37360"/>
            <a:ext cx="4297680" cy="29260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663440" y="466344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ER diagram (full version in schema/conceptual_er.md)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1A2B"/>
                </a:solidFill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explode the wide Match table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463040"/>
          </a:xfrm>
          <a:prstGeom prst="rect">
            <a:avLst/>
          </a:prstGeom>
          <a:solidFill>
            <a:srgbClr val="FFE9E9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27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source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table: 115 columns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lineup columns + 8 raw XML fields + 20 betting odds + base info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262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3657600" cy="1463040"/>
          </a:xfrm>
          <a:prstGeom prst="rect">
            <a:avLst/>
          </a:prstGeom>
          <a:solidFill>
            <a:srgbClr val="EAFBF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66360" y="1627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normalised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920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2194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  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(25,979 rows)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match_lineup   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(542,281)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match_event   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(917,815)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match_odds   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(out of scope)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explode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Readable SQL —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match_lineup is far clearer than scanning 22 wide columns.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Normalised semantics —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become rows you can index and aggregate.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Symmetry with the graph —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conceptual entities map naturally to nodes and relationships.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for entities, relationships for events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V="1">
            <a:off x="1028700" y="1760220"/>
            <a:ext cx="1600200" cy="8229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2007108"/>
            <a:ext cx="1554480" cy="25603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IN_COUNTRY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8700" y="2583180"/>
            <a:ext cx="320040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51660" y="2418588"/>
            <a:ext cx="1554480" cy="25603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PLAYS_IN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29100" y="2583180"/>
            <a:ext cx="1874520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89120" y="2418588"/>
            <a:ext cx="1554480" cy="25603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AWAY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03620" y="2583180"/>
            <a:ext cx="1828800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40780" y="2290572"/>
            <a:ext cx="1554480" cy="25603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LINEUP_OF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03620" y="2583180"/>
            <a:ext cx="1828800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40780" y="2674620"/>
            <a:ext cx="1554480" cy="256032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SCORED_IN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1508760"/>
            <a:ext cx="105156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03120" y="15087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331720"/>
            <a:ext cx="105156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03320" y="2331720"/>
            <a:ext cx="105156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703320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77840" y="2331720"/>
            <a:ext cx="1051560" cy="502920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577840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06640" y="2331720"/>
            <a:ext cx="105156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06640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  <p:pic>
        <p:nvPicPr>
          <p:cNvPr id="33" name="Picture 32" descr="visuali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246120"/>
            <a:ext cx="4572000" cy="1508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Snapshot of the actual Neo4j graph (zoom on a single league-season)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SQLite to two databases — fully automated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69164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691640"/>
            <a:ext cx="1627632" cy="4572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78408" y="1856232"/>
            <a:ext cx="402336" cy="402336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18562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2331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26517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tables from database.sqlite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97964" y="22860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12264" y="169164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112264" y="1691640"/>
            <a:ext cx="1627632" cy="4572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724912" y="1856232"/>
            <a:ext cx="402336" cy="402336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12264" y="18562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85416" y="2331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85416" y="26517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XML events, explode lineup, fix orphan FKs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44468" y="22860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58768" y="169164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858768" y="1691640"/>
            <a:ext cx="1627632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471416" y="1856232"/>
            <a:ext cx="402336" cy="40233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58768" y="18562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31920" y="2331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CSVs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26517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CSV files in clean/, ready for both DBs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90972" y="22860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05272" y="169164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605272" y="1691640"/>
            <a:ext cx="1627632" cy="4572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217920" y="1856232"/>
            <a:ext cx="402336" cy="402336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05272" y="18562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78424" y="2331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Postgres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78424" y="26517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DDL + COPY (fast bulk insert)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37476" y="228600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51776" y="1691640"/>
            <a:ext cx="16276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351776" y="1691640"/>
            <a:ext cx="1627632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64424" y="1856232"/>
            <a:ext cx="402336" cy="40233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351776" y="18562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24928" y="2331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Neo4j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24928" y="265176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+ derive PLAYED_FOR aggregation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358444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3152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foreign keys: 100% integral — zero orphans across 542k+ references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" y="387705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1520" y="3813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parsing: 14,196 matches with events → 917,815 typed rows in match_event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41696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31520" y="41056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the pipeline from scratch: ~7 minutes end-to-end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problems we ran into — and how we solved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27632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5,632 orphan player references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659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XML-parsed events referenced player IDs absent from the Player table. We nullified them in transform.py — preserved 100% of events, lost only the attribution for 0.5% of them. Result: full FK integrity.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578608"/>
            <a:ext cx="54864" cy="1005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serialised INTEGER NULL as "673.0"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08152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rejected COPY for `team_fifa_api_id`. Fix: auto-detect integer-with-NaN columns and cast to pandas Int64 before writing CSV. Bonus: shrunk player_stats.csv from 38 MB to 25 MB.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694176"/>
            <a:ext cx="54864" cy="10058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0080" y="3968496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858768"/>
            <a:ext cx="7360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card_type CHAR(1) was too narrow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197096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didn't anticipate "y2" — the second-yellow code, rare but present. Widened to VARCHAR(2). The kind of bug only the full load reveals.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is small in isolation; together they make the pipeline reproducible end-to-end.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software versions, and methodology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" y="15087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MacBook Air, Apple M2 (8 cores), 8 GB RAM, internal SSD. Single-user, in-memory dataset.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Database engines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34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PostgreSQL 18.3 (Homebrew, default config)  ·  Neo4j 2026.04.0 Enterprise (Desktop).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Methodology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5 measured runs per query  +  1 warm-up discarded  ·  Median, min, max, IQR  ·  Result equality verified as set of normalised tuples.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Fair-comparison 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548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Postgres precomputes a materialized view  mv_played_for(player, team, season)  to mirror Neo4j's :PLAYED_FOR relationship — neither system gets a structural advantage on Q08/Q09/Q10.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 in two languages — and check they say the same thing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554480"/>
            <a:ext cx="2697480" cy="45720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276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16276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discarded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cold-cache bias on both DBs; medians computed only on the next 5 runs.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37560" y="1554480"/>
            <a:ext cx="269748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0440" y="16276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stats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6276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+ IQR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3108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is robust to outliers. We also report min, max, IQR.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26974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0" y="162763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equivalence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16276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Set-equality check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310896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result-sets normalised (rounding, dates, decimals) and compared as sets. All 10 read-queries: OK.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queries, four categories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graph-friendliness, plus write workloads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280160"/>
                <a:gridCol w="41148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7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Q01–Q04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Aggregations &amp; 2–3 way joins (top scorers, standings, win pct)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should win or 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Q05–Q07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joins, self-joins, presence-in-all-of (8 seasons)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 Neo4j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Q08–Q10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traversal: teammates, 2-hop, shortest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 should win clearly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Q11–Q12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UPDATE; schema evolution (add a new attribute)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paradigms compared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are written twice — same logic in SQL and in Cypher — and parameterised.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in queries/sql/Q01..Q12.sql and queries/cypher/Q01..Q12.cypher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12 queries (10 read + 2 write)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read queries produced equivalent results in both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24612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457200"/>
                <a:gridCol w="914400"/>
                <a:gridCol w="914400"/>
                <a:gridCol w="1188720"/>
                <a:gridCol w="11887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7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scorers by season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A_relational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1.71x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 standings by season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A_relational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1.52x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Goals per match by league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A_relational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1.45x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win % by team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67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A_relational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1.46x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Goal-assist partnerships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B_multihop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1.89x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vs Real Madrid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B_multihop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2.78x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Players in all 8 seasons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B_multihop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1283.5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201.0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6.39x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Teammates of Messi 2015/16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C_graph_native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1.61x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2-hop teammates of Messi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C_graph_native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1.84x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 Messi → Pirlo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C_graph_native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749.6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75.91x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UPDATE on event subtype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D_write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363.9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155.2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2.34x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evolution: add totalGoals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D_write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390.8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33.2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78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11.77x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per query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time, log scale — lower is better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sessions/eager-wizardly-ramanujan/mnt/Progetto_Data/reports/figures/perf_by_qu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17320"/>
            <a:ext cx="694944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wins </a:t>
            </a:r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planner shines: small joins and aggregations (Q02, Q03). </a:t>
            </a:r>
            <a:pPr indent="0" marL="0">
              <a:buNone/>
            </a:pPr>
            <a:r>
              <a:rPr lang="en-US" sz="1200" b="1" i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wins </a:t>
            </a:r>
            <a:pPr indent="0" marL="0">
              <a:buNone/>
            </a:pPr>
            <a:r>
              <a:rPr lang="en-US" sz="12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is naturally a graph (Q07, Q10).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time ÷ Neo4j time — bars above 1 = Neo4j is faster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sessions/eager-wizardly-ramanujan/mnt/Progetto_Data/reports/figures/speed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4864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554480"/>
            <a:ext cx="2560320" cy="2743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217920" y="1554480"/>
            <a:ext cx="2560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355080" y="1691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shortest path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21031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spc="-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76x</a:t>
            </a:r>
            <a:endParaRPr lang="en-US" sz="8400" dirty="0"/>
          </a:p>
        </p:txBody>
      </p:sp>
      <p:sp>
        <p:nvSpPr>
          <p:cNvPr id="10" name="Text 7"/>
          <p:cNvSpPr/>
          <p:nvPr/>
        </p:nvSpPr>
        <p:spPr>
          <a:xfrm>
            <a:off x="635508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Neo4j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550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 750 ms  |  Neo4j: 10 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expressiveness — two dimensions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the query? How many logical operators does it use?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sessions/eager-wizardly-ramanujan/mnt/Progetto_Data/reports/figures/l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4297680" cy="2286000"/>
          </a:xfrm>
          <a:prstGeom prst="rect">
            <a:avLst/>
          </a:prstGeom>
        </p:spPr>
      </p:pic>
      <p:pic>
        <p:nvPicPr>
          <p:cNvPr id="6" name="Image 1" descr="/sessions/eager-wizardly-ramanujan/mnt/Progetto_Data/reports/figures/verbo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7320"/>
            <a:ext cx="429768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(LOC)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0" y="3703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verbosity (operators)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4160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SQL lines vs 3 Cypher lines 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(10×)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SQL operators vs 3 Cypher operators 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(9.3×)</a:t>
            </a:r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Cypher wins on both axes — and dramatically.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Shortest path: a tale of two languages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question, two paradigms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79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36576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recursive CTE (BFS)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RECURSIVE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played_for AS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DISTINCT l.player_api_id,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WHEN l.side='home' THEN m.home_team_api_id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ELSE m.away_team_api_id END 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m.season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match_lineup l JOIN match m USING (match_api_id)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 (player_api_id, distance) AS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src, 0 FROM endpoints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pf2.player_api_id, b.distance + 1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bfs 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played_for pf1 ON pf1.player_api_id = b.player_api_id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played_for pf2 ON pf2.t = pf1.t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AND pf2.season = pf1.season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AND pf2.player_api_id &lt;&gt; b.player_api_id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b.distance &lt; 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MIN(distance) FROM bfs ...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006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— built-in shortestPath()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(a:Player {name: $player_a}),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(b:Player {name: $player_b})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path = shortestPath(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(a)-[:PLAYED_FOR*..12]-(b)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length(path) / 2 AS hops;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3703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lines  →  3 lines
750 ms   →  10 ms
28 ops    →  3 ops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Schema evolution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attribute to every Match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679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36576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DDL + DML, two steps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1: change the 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soccer.match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COLUMN total_goals SMALLINT;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2: backfill the new column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soccer.match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total_goals = home_team_goal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+ away_team_goal;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006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— schemaless, one step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SET the new property — no DDL,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migration step, no row-by-row UPDATE.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(m:Match)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  m.totalGoals = m.homeGoals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+ m.awayGoals;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343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Schema-on-write (Postgres) </a:t>
            </a:r>
            <a:pPr indent="0" marL="0">
              <a:buNone/>
            </a:pPr>
            <a:r>
              <a:rPr lang="en-US" sz="1100" dirty="0">
                <a:solidFill>
                  <a:srgbClr val="C0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schema-on-read (Neo4j) </a:t>
            </a:r>
            <a:pPr indent="0" marL="0">
              <a:buNone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two steps and a brief table lock vs a single SET. </a:t>
            </a:r>
            <a:pPr indent="0" marL="0">
              <a:buNone/>
            </a:pPr>
            <a:r>
              <a:rPr lang="en-US" sz="11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the same in CPU, but very different in change-management.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are an engineering choice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one critical index, watch the world burn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Q08 (teammates of Messi) three times on each system: with the index, without, and with it back.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65760" y="1874520"/>
            <a:ext cx="4114800" cy="36576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Q08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dropped: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6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ix_lineup_player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index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ms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(measured · 5 runs median)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663440" y="1874520"/>
            <a:ext cx="411480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— Q08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dropped: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player_name_idx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index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index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ms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46320" y="4114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(measured · 5 runs median)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 3.18× slowdown without ix_lineup_player  ·  Neo4j: 1.55× slowdown without player_name_idx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takeaways from twelve queries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81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still wins where Postgres has always won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aggregations and small-fan-out joins (Q02, Q03) — its planner has 30 years of optimisation that no graph engine matches.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334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wins on graph workloads — by an order of magnitude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traversal, shortest path, presence-in-all-of: Q07 (6.4×), Q10 (76×). And the Cypher code is dramatically more concise.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685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flexibility is a forgotten dimension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attribute is one statement in Neo4j vs ALTER + UPDATE in Postgres. In change-heavy environments this matters more than raw 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benchmark does not measure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 3.25× slowdown without ix_lineup_player  ·  Neo4j: 2.32× slowdown without player_name_idx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  <p:sp>
        <p:nvSpPr>
          <p:cNvPr id="30" name="TextBox 29"/>
          <p:cNvSpPr txBox="1"/>
          <p:nvPr/>
        </p:nvSpPr>
        <p:spPr>
          <a:xfrm>
            <a:off x="640080" y="15087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Single-node, single-user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We measured in-memory, sequential workload. Concurrent reads/writes, lock contention, and MVCC under load are out of scope.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No tuning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834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Both engines run on default configuration. Tuning shared_buffers / work_mem (Postgres) or pagecache.size (Neo4j) could shift results.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Dataset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917k events, 542k lineup rows — medium scale. LDBC-SNB-style synthetic graphs at 10× would stress Neo4j's traversal advantage further.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Future directions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7548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Add OLTP write-heavy workload, test on PostgreSQL Citus (sharded) vs Neo4j Fabric, evaluate hybrid polyglot architectures.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tools for distinct problems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554480"/>
            <a:ext cx="3931920" cy="45720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PostgreSQL when…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5156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and strict integrity matter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OLAP-style aggregations dominate the workload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29184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5156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is stable and well understood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164592" cy="164592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5156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vertical scaling on a single, well-tuned node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39319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393192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46320" y="1554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Neo4j when…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92040" y="2194560"/>
            <a:ext cx="164592" cy="16459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166360" y="2103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naturally a graph (people, places, events, networks)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2743200"/>
            <a:ext cx="164592" cy="16459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16636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traverse relationships (paths, neighbourhoods, communities)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3291840"/>
            <a:ext cx="164592" cy="16459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6636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evolves frequently and unpredictably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840480"/>
            <a:ext cx="164592" cy="16459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166360" y="3749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expressive query syntax for non-developers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time →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5760" cy="3657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7889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(Giuseppe):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github.com/g1up3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(Nicolas): 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github.com/theunick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C0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reports/benchmark_report.md  ·  reports/dataset_exploration.md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66560" y="1828800"/>
            <a:ext cx="18288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</p:spPr>
        <p:txBody>
          <a:bodyPr/>
          <a:p/>
        </p:txBody>
      </p:sp>
      <p:pic>
        <p:nvPicPr>
          <p:cNvPr id="8" name="Image 0" descr="/sessions/eager-wizardly-ramanujan/mnt/Progetto_Data/reports/figures/qr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965960"/>
            <a:ext cx="1554480" cy="1554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repo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0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in graph and relational benchmarking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Postgres: 3.25× slowdown without ix_lineup_player  ·  Neo4j: 2.32× slowdown without player_name_idx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5760" y="48188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2025/26  ·  D'Angelica &amp; Leone  ·  PostgreSQL vs Neo4j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18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900" dirty="0"/>
          </a:p>
        </p:txBody>
      </p:sp>
      <p:sp>
        <p:nvSpPr>
          <p:cNvPr id="30" name="TextBox 29"/>
          <p:cNvSpPr txBox="1"/>
          <p:nvPr/>
        </p:nvSpPr>
        <p:spPr>
          <a:xfrm>
            <a:off x="640080" y="15087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Angles, Gutierrez (2008)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87451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Survey of Graph Database Models. ACM Computing Surveys, 40(1).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Vicknair et al. (2010)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834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A Comparison of a Graph Database and a Relational Database. ACM SE 2010.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Holzschuher, Peinl (2013)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Performance of Graph Query Languages. EDBT/ICDT Workshops.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801A2B"/>
                </a:solidFill>
              </a:rPr>
              <a:t>Erling et al. (2015)  ·  Robinson et al. (2015)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7548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LDBC Social Network Benchmark (SIGMOD)  ·  Graph Databases, 2nd ed. (O'Reilly).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PostgreSQL vs Neo4j — DM 2025/26</dc:title>
  <dc:subject>PptxGenJS Presentation</dc:subject>
  <dc:creator>Giuseppe D'Angelica, Nicolas Leone</dc:creator>
  <cp:lastModifiedBy>Giuseppe D'Angelica, Nicolas Leone</cp:lastModifiedBy>
  <cp:revision>1</cp:revision>
  <dcterms:created xsi:type="dcterms:W3CDTF">2026-05-03T18:14:36Z</dcterms:created>
  <dcterms:modified xsi:type="dcterms:W3CDTF">2026-05-03T18:14:36Z</dcterms:modified>
</cp:coreProperties>
</file>