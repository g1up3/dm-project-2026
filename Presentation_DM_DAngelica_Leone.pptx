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6" r:id="rId27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7" r:id="rId28"/>
    <p:sldId id="274" r:id="rId20"/>
    <p:sldId id="275" r:id="rId21"/>
    <p:sldId id="278" r:id="rId29"/>
  </p:sldIdLst>
  <p:notesMasterIdLst>
    <p:notesMasterId r:id="rId2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1.xml"/><Relationship Id="rId21" Type="http://schemas.openxmlformats.org/officeDocument/2006/relationships/slide" Target="slides/slide22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openxmlformats.org/officeDocument/2006/relationships/slide" Target="slides/slide9.xml"/><Relationship Id="rId28" Type="http://schemas.openxmlformats.org/officeDocument/2006/relationships/slide" Target="slides/slide20.xml"/><Relationship Id="rId29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Cover slide. Introduce yourselves (Giuseppe + Nicolas), mention the tutor (Delfino), and frame the talk as an experimental comparison — emphasize that we measured rather than just discussed.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research question. Skip narration of bullets — read the central quote, then say: 'Decades of relational optimisation versus a model where relationships ARE data. Today's experiment answers this empirically.'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Dataset highlights. 26k matches, 917k events from XML parsing — emphasize that data quality matters: we'll see in 5 slides how the integration of XML events created challenges. Se chiedono dei '~300,000 records' citati nella proposal: il sorgente ha 25,979 match e ~220k righe totali fra le tabelle; dopo il parsing XML il progetto carica ~1.5M righe (917,815 eventi + 542,281 formazioni) in entrambi i sistemi — piu' dati di quanto promesso, meglio strutturati.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Conceptual schema. Show the ER diagram (right side). 'Same domain, two implementations — we'll see how each system encodes the same idea differently.'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Postgres design choices. 'The Match table in the source had 115 columns including 22 player FKs and 8 XML blobs. We exploded it into 4 normalised tables. This is the standard relational move.'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Neo4j design. 'Same entities, but events become relationships. Look at this snapshot of the actual graph — Lineup_of, Scored_in are not foreign keys, they are first-class objects you can traverse.'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ETL pipeline. 'Fully automated, ~7 minutes end-to-end. The interesting story is the next slide.'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Engineering challenges. Tell each story briefly — orphan FKs, pandas integer NaN, card_type 'y2'. 'These are the realities of real-world data integration. They are NOT in a typical course exercise.'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Methodology pillars. Read each one. 'These three together — warm-up, median, set-equality — eliminate the most common benchmark pitfalls.'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12 queries, 4 categories. 'A — relational, B — multi-hop, C — graph-native, D — write. The categories are an HYPOTHESIS: do graph systems really win where we think they win?'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Results table. Highlight: 'All 10 read queries return identical results — verified automatically. Now look at performance.' Don't read row by row — point at Q10's 76x as the headline.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Per-query timing chart. 'Log scale. Postgres wins the leftmost group (A — small joins, OLAP-ish). Neo4j dominates on the right (graph-native).'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Speedup chart. 'Bars above 1 = Neo4j is faster. Q10 is the dramatic case — over 75x.'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Code expressiveness. 'Two dimensions: lines (vertical space) and operators (cognitive load). Q10 — 30 lines vs 3, 28 operators vs 3. This is what reads as ELEGANT.'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Q10 code side-by-side. Read briefly: 'A recursive CTE doing BFS — versus shortestPath, a primitive in Cypher. Same answer, two orders of magnitude difference. Note: we use *..12 in Cypher because PLAYED_FOR is directional and we want exactly 6 player-to-player hops to match the SQL limit.'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Q12 schema evolution. 'In Postgres: ALTER + UPDATE — two statements, lock during ALTER. In Neo4j: ONE statement. This is the schema-flexibility dimension OFTEN forgotten in performance benchmarks.'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Index ablation, numeri del run 20260524 (10 run per fase): drop di ix_lineup_player su Postgres Q08: 3.2 -&gt; 11.2 ms, 3.48x slowdown. Drop di player_name_idx su Neo4j Q08: 3.9 -&gt; 7.4 ms, 1.91x. La matrice completa (7 coppie) e' nel report e include un controesempio: togliere team_name_idx su Q06 la VELOCIZZA (0.62x) — non ogni indice aiuta. Indexes are NOT decoration, ma vanno misurati.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takeaways. Read each. 'These are the three answers to the research question we asked on slide 2.'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Verdict. Read both columns. 'In production, you often use BOTH — polyglot persistence.'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References. We grounded our work in the literature: Angles &amp; Gutierrez for the survey, Vicknair for the first major comparison study, Holzschuher for query language analysis, LDBC for standardisation, Robinson for the canonical textbook.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Experimental setup. State explicitly: 'MacBook Air M2 (8 cores, 8 GB RAM), Postgres 18.3 Homebrew, Neo4j 2026.04.0 Enterprise community, default configuration on both. Methodology: warm-up + 5 runs, median reported. And — critical — Postgres has a materialized view mirroring Neo4j's PLAYED_FOR, so the comparison is FAIR.'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Limitations. 'A good engineer says what they did NOT measure. Concurrent workload, tuning, scale — these are the next steps.'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Thank you. Live demo follows: shortest path Messi → Pirlo, then Q02 (Postgres wins), then schema evolution Q12. About 5 minutes total.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1280160"/>
            <a:ext cx="8229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000" b="1" spc="-1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vs Neo4j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4864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experimental comparison on a real-world graph dataset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3063240"/>
            <a:ext cx="365760" cy="365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3246120"/>
            <a:ext cx="8229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Giuseppe D'Angelica  </a:t>
            </a:r>
            <a:pPr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github.com/g1up3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Leone  </a:t>
            </a:r>
            <a:pPr indent="0" marL="0">
              <a:spcAft>
                <a:spcPts val="200"/>
              </a:spcAft>
              <a:buNone/>
            </a:pPr>
            <a:r>
              <a:rPr lang="en-US" sz="15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github.com/theunick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Management 2025/26 — Sapienza Università di Roma</a:t>
            </a:r>
            <a:endParaRPr lang="en-US" sz="1500" dirty="0"/>
          </a:p>
          <a:p>
            <a:r>
              <a:rPr sz="1500">
                <a:solidFill>
                  <a:srgbClr val="F5F7FA"/>
                </a:solidFill>
                <a:latin typeface="Calibri"/>
              </a:rPr>
              <a:t>Tutor: Roberto Maria Delfino  ·  Sapienza Università di Roma</a:t>
            </a:r>
          </a:p>
        </p:txBody>
      </p:sp>
      <p:sp>
        <p:nvSpPr>
          <p:cNvPr id="7" name="Text 5"/>
          <p:cNvSpPr/>
          <p:nvPr/>
        </p:nvSpPr>
        <p:spPr>
          <a:xfrm>
            <a:off x="8412480" y="45262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30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23</a:t>
            </a:r>
            <a:endParaRPr lang="en-US" sz="3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research question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two databases for the same data?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1554480"/>
            <a:ext cx="78638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“When does a graph database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actually beat a relational one?”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640080" y="3246120"/>
            <a:ext cx="3840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3246120"/>
            <a:ext cx="54864" cy="132588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41248" y="3355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Relational strengths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41248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Decades of optimisation, mature planner, B-tree indexes — perfect for OLAP-style aggregations and joins.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3246120"/>
            <a:ext cx="384048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4663440" y="3246120"/>
            <a:ext cx="54864" cy="132588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4864608" y="3355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Graph strengths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864608" y="3703320"/>
            <a:ext cx="35661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Native traversal of relationships, no joins. Built for shortest paths, friend-of-friend, communities.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dataset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European Soccer Database — Hugo Mathien, Kaggle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554480"/>
            <a:ext cx="1933956" cy="7315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48640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25,979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548640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leagues · 8 seasons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555748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555748" y="1554480"/>
            <a:ext cx="1933956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647188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11,060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2647188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647188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FIFA-rating snapshots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654296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4654296" y="1554480"/>
            <a:ext cx="1933956" cy="7315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45736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917,815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4745736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745736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parsed from raw XML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752844" y="1554480"/>
            <a:ext cx="1933956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6752844" y="1554480"/>
            <a:ext cx="1933956" cy="73152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6844284" y="1783080"/>
            <a:ext cx="17510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542,281</a:t>
            </a:r>
            <a:endParaRPr lang="en-US" sz="3000" dirty="0"/>
          </a:p>
        </p:txBody>
      </p:sp>
      <p:sp>
        <p:nvSpPr>
          <p:cNvPr id="23" name="Text 21"/>
          <p:cNvSpPr/>
          <p:nvPr/>
        </p:nvSpPr>
        <p:spPr>
          <a:xfrm>
            <a:off x="6844284" y="2423160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lineup rows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844284" y="2724912"/>
            <a:ext cx="17510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11+11 per match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338328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format: </a:t>
            </a:r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300-MB SQLite file. The Match table is 115 columns wide and contains XML-encoded events that we parsed and normalised.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 schema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model, two implementations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Entities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02920" y="18288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830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926080" y="17830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1945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1488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2926080" y="21488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256032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777240" y="25146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926080" y="25146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299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292608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77240" y="288036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926080" y="288036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11,060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329184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777240" y="324612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926080" y="324612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25,979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36576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77240" y="361188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MatchEvent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926080" y="361188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917,815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" y="40233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77240" y="397764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PlayerStats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926080" y="397764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183,978 snapshots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02920" y="438912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777240" y="4343400"/>
            <a:ext cx="21031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TeamStats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2926080" y="4343400"/>
            <a:ext cx="1463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1,458 snapshots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754880" y="1417320"/>
            <a:ext cx="4114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Relationships</a:t>
            </a:r>
            <a:endParaRPr lang="en-US" sz="1600" dirty="0"/>
          </a:p>
        </p:txBody>
      </p:sp>
      <p:sp>
        <p:nvSpPr>
          <p:cNvPr id="47" name="Shape 4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48" name="Text 4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pic>
        <p:nvPicPr>
          <p:cNvPr id="49" name="Picture 48" descr="schema_ER_mermaidp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1737360"/>
            <a:ext cx="4297680" cy="292608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4663440" y="4663440"/>
            <a:ext cx="429768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ER diagram (full version in schema/conceptual_er.md)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801A2B"/>
                </a:solidFill>
              </a:rPr>
              <a:t>4 / 23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decision: explode the wide Match table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554480"/>
            <a:ext cx="4023360" cy="1463040"/>
          </a:xfrm>
          <a:prstGeom prst="rect">
            <a:avLst/>
          </a:prstGeom>
          <a:solidFill>
            <a:srgbClr val="FFE9E9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94360" y="1627632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— source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94360" y="19202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table: 115 columns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594360" y="233172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lineup columns + 8 raw XML fields + 20 betting odds + base info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26280" y="2011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3600" dirty="0"/>
          </a:p>
        </p:txBody>
      </p:sp>
      <p:sp>
        <p:nvSpPr>
          <p:cNvPr id="10" name="Shape 8"/>
          <p:cNvSpPr/>
          <p:nvPr/>
        </p:nvSpPr>
        <p:spPr>
          <a:xfrm>
            <a:off x="5029200" y="1554480"/>
            <a:ext cx="3657600" cy="1463040"/>
          </a:xfrm>
          <a:prstGeom prst="rect">
            <a:avLst/>
          </a:prstGeom>
          <a:solidFill>
            <a:srgbClr val="EAFBF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5166360" y="162763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normalised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166360" y="192024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tables: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166360" y="219456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(25,979 rows)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match_lineup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(542,281)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match_event    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(917,815)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match_odds    </a:t>
            </a:r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(out of scope)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3200400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explode it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352044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Readable SQL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on match_lineup is far clearer than scanning 22 wide columns.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Normalised semantics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 become rows you can index and aggregate.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Symmetry with the graph — </a:t>
            </a:r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conceptual entities map naturally to nodes and relationships.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design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Nodes for entities, relationships for events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 flipV="1">
            <a:off x="1028700" y="1760220"/>
            <a:ext cx="1600200" cy="82296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200710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IN_COUNTRY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1028700" y="2583180"/>
            <a:ext cx="320040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51660" y="241858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PLAYS_IN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29100" y="2583180"/>
            <a:ext cx="1874520" cy="914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389120" y="2418588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 / AWAY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103620" y="2583180"/>
            <a:ext cx="1828800" cy="914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40780" y="2290572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LINEUP_OF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03620" y="2583180"/>
            <a:ext cx="1828800" cy="914"/>
          </a:xfrm>
          <a:prstGeom prst="line">
            <a:avLst/>
          </a:prstGeom>
          <a:noFill/>
          <a:ln w="1905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40780" y="2674620"/>
            <a:ext cx="1554480" cy="256032"/>
          </a:xfrm>
          <a:prstGeom prst="rect">
            <a:avLst/>
          </a:prstGeom>
          <a:solidFill>
            <a:srgbClr val="F5F7F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SCORED_IN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2103120" y="1508760"/>
            <a:ext cx="105156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2103120" y="150876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Country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02920" y="2331720"/>
            <a:ext cx="1051560" cy="502920"/>
          </a:xfrm>
          <a:prstGeom prst="ellipse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0292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League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703320" y="2331720"/>
            <a:ext cx="105156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370332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577840" y="2331720"/>
            <a:ext cx="1051560" cy="50292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57784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7406640" y="2331720"/>
            <a:ext cx="1051560" cy="50292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7406640" y="2331720"/>
            <a:ext cx="1051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23</a:t>
            </a:r>
            <a:endParaRPr lang="en-US" sz="900" dirty="0"/>
          </a:p>
        </p:txBody>
      </p:sp>
      <p:pic>
        <p:nvPicPr>
          <p:cNvPr id="33" name="Picture 32" descr="visualis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86000" y="3246120"/>
            <a:ext cx="4572000" cy="150876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57200" y="4754880"/>
            <a:ext cx="8229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/>
              <a:t>Snapshot of the actual Neo4j graph (zoom on a single league-season)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ETL pipeline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SQLite to two databases — fully automated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78408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65760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38912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38912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all tables from database.sqlite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997964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112264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2112264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724912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2112264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2185416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185416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XML events, explode lineup, fix orphan FKs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3744468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858768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858768" y="1691640"/>
            <a:ext cx="1627632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4471416" y="1856232"/>
            <a:ext cx="402336" cy="40233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858768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3931920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CSVs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3931920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CSV files in clean/, ready for both DBs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5490972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605272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5605272" y="1691640"/>
            <a:ext cx="1627632" cy="4572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6217920" y="1856232"/>
            <a:ext cx="402336" cy="402336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5605272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5678424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Postgres</a:t>
            </a:r>
            <a:endParaRPr lang="en-US" sz="1400" dirty="0"/>
          </a:p>
        </p:txBody>
      </p:sp>
      <p:sp>
        <p:nvSpPr>
          <p:cNvPr id="31" name="Text 29"/>
          <p:cNvSpPr/>
          <p:nvPr/>
        </p:nvSpPr>
        <p:spPr>
          <a:xfrm>
            <a:off x="5678424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DDL + COPY (fast bulk insert)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7237476" y="2286000"/>
            <a:ext cx="1188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7351776" y="1691640"/>
            <a:ext cx="16276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351776" y="1691640"/>
            <a:ext cx="1627632" cy="4572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7964424" y="1856232"/>
            <a:ext cx="402336" cy="402336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7351776" y="1856232"/>
            <a:ext cx="162763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7" name="Text 35"/>
          <p:cNvSpPr/>
          <p:nvPr/>
        </p:nvSpPr>
        <p:spPr>
          <a:xfrm>
            <a:off x="7424928" y="2331720"/>
            <a:ext cx="14813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Neo4j</a:t>
            </a:r>
            <a:endParaRPr lang="en-US" sz="1400" dirty="0"/>
          </a:p>
        </p:txBody>
      </p:sp>
      <p:sp>
        <p:nvSpPr>
          <p:cNvPr id="38" name="Text 36"/>
          <p:cNvSpPr/>
          <p:nvPr/>
        </p:nvSpPr>
        <p:spPr>
          <a:xfrm>
            <a:off x="7424928" y="2651760"/>
            <a:ext cx="148132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CSV + derive PLAYED_FOR aggregation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502920" y="3584448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73152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foreign keys: 100% integral — zero orphans across 542k+ references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502920" y="3877056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42" name="Text 40"/>
          <p:cNvSpPr/>
          <p:nvPr/>
        </p:nvSpPr>
        <p:spPr>
          <a:xfrm>
            <a:off x="731520" y="3813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 parsing: 14,196 matches with events → 917,815 typed rows in match_event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502920" y="4169664"/>
            <a:ext cx="128016" cy="128016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44" name="Text 42"/>
          <p:cNvSpPr/>
          <p:nvPr/>
        </p:nvSpPr>
        <p:spPr>
          <a:xfrm>
            <a:off x="731520" y="4105656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Re-running the pipeline from scratch: ~7 minutes end-to-end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46" name="Text 4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Engineering challenges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real problems we ran into — and how we solved them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463040"/>
            <a:ext cx="54864" cy="100584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640080" y="1737360"/>
            <a:ext cx="457200" cy="457200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64008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234440" y="1627632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5,632 orphan player references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234440" y="1965960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XML-parsed events referenced player IDs absent from the Player table. We nullified them in transform.py — preserved 100% of events, lost only the attribution for 0.5% of them. Result: full FK integrity.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578608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457200" y="2578608"/>
            <a:ext cx="54864" cy="100584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40080" y="2852928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285292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234440" y="2743200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pandas serialised INTEGER NULL as "673.0"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3081528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rejected COPY for `team_fifa_api_id`. Fix: auto-detect integer-with-NaN columns and cast to pandas Int64 before writing CSV. Bonus: shrunk player_stats.csv from 38 MB to 25 MB.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694176"/>
            <a:ext cx="822960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57200" y="3694176"/>
            <a:ext cx="54864" cy="100584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640080" y="3968496"/>
            <a:ext cx="457200" cy="4572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640080" y="3968496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34440" y="3858768"/>
            <a:ext cx="7360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card_type CHAR(1) was too narrow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234440" y="4197096"/>
            <a:ext cx="7360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didn't anticipate "y2" — the second-yellow code, rare but present. Widened to VARCHAR(2). The kind of bug only the full load reveals.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fix is small in isolation; together they make the pipeline reproducible end-to-end.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Experimental setup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Hardware, software versions, and methodology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23</a:t>
            </a:r>
            <a:endParaRPr lang="en-US" sz="900" dirty="0"/>
          </a:p>
        </p:txBody>
      </p:sp>
      <p:sp>
        <p:nvSpPr>
          <p:cNvPr id="23" name="TextBox 22"/>
          <p:cNvSpPr txBox="1"/>
          <p:nvPr/>
        </p:nvSpPr>
        <p:spPr>
          <a:xfrm>
            <a:off x="640080" y="15087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Hardware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187451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MacBook Air, Apple M2 (8 cores), 8 GB RAM, internal SSD. Single-user, in-memory dataset.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Database engines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PostgreSQL 18.3 (Homebrew, default config)  ·  Neo4j 2026.04.0 Enterprise (Desktop).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34290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Methodology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15 measured runs per query + 1 warm-up discarded  ·  Median with bootstrap 95% CI (10,000 resamples)  ·  Mann-Whitney U significance test (alpha = 0.05)  ·  Result equality verified as normalised tuples.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Fair-comparison choice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Postgres precomputes a materialized view  mv_played_for(player, team, season)  to mirror Neo4j's :PLAYED_FOR relationship — neither system gets a structural advantage on Q08/Q09/Q10.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 methodology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questions in two languages — and check they say the same thing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554480"/>
            <a:ext cx="2697480" cy="45720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Warm-up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260604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8580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run discarded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8580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Avoids cold-cache bias on both DBs; medians computed only on the next 15 runs.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33756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3337560" y="1554480"/>
            <a:ext cx="2697480" cy="4572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52044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stats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56616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+ CI + Significance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356616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with bootstrap 95% CI (10k resamples). Significance via Mann-Whitney U (alpha = 0.05). 11/12 differences are statistically significant.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554480"/>
            <a:ext cx="269748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269748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400800" y="1627632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 equivalence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8366760" y="1627632"/>
            <a:ext cx="365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46520" y="233172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Set-equality check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46520" y="3108960"/>
            <a:ext cx="22402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result-sets normalised (rounding, dates, decimals) and compared as sets. All 10 read-queries: OK.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queries, four categories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graph-friendliness, plus write workloads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1280160"/>
                <a:gridCol w="4114800"/>
                <a:gridCol w="22860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Tests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Hypothesis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79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Q01–Q04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Aggregations &amp; 2–3 way joins (top scorers, standings, win pct)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 should win or tie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A62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Q05–Q07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Multi-hop joins, self-joins, presence-in-all-of (8 seasons)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Slight Neo4j edge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Q08–Q10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Network traversal: teammates, 2-hop, shortest path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 should win clearly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44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Q11–Q12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UPDATE; schema evolution (add a new attribute)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i="1" dirty="0">
                          <a:solidFill>
                            <a:srgbClr val="EF444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Different paradigms compared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queries are written twice — same logic in SQL and in Cypher — and parameterised.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57200" y="42976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Files in queries/sql/Q01..Q12.sql and queries/cypher/Q01..Q12.cypher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— 12 queries (10 read + 2 write)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10 read queries equivalent  ·  * = significant (p &lt; 0.05, Mann-Whitney U)  ·  11/12 significant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3246120"/>
        </p:xfrm>
        <a:graphic>
          <a:graphicData uri="http://schemas.openxmlformats.org/drawingml/2006/table">
            <a:tbl>
              <a:tblPr/>
              <a:tblGrid>
                <a:gridCol w="457200"/>
                <a:gridCol w="3108960"/>
                <a:gridCol w="457200"/>
                <a:gridCol w="914400"/>
                <a:gridCol w="914400"/>
                <a:gridCol w="1188720"/>
                <a:gridCol w="1188720"/>
              </a:tblGrid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Query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Pg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36791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 (ms)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78D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Winner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Speedup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scorers by season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10.8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1.23x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League standings by season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Goals per match by league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2.11x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Home win % by team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33679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A_relational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14.7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1.18x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Goal-assist partnerships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B_multihop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55.4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36.0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1.54x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Cards vs Real Madrid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B_multihop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6.3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3.24x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Players in all 8 seasons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B_multihop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1277.1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204.9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6.23x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Teammates of Messi 2015/16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C_graph_native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5.9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3.5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1.69x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2-hop teammates of Messi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C_graph_native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30.6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68.8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Postgres*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2.25x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Shortest path Messi → Pirlo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C_graph_native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711.7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8.0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89.31x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Bulk UPDATE on event subtype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D_write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411.2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168.2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2.44x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Schema evolution: add totalGoals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D_write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443.4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dirty="0">
                          <a:solidFill>
                            <a:srgbClr val="1A2332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32.4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0078D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Neo4j*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5A623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13.70x</a:t>
                      </a:r>
                      <a:endParaRPr lang="en-US" sz="11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per query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time, log scale — lower is better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sessions/eager-wizardly-ramanujan/mnt/Progetto_Data/reports/figures/perf_by_qu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1417320"/>
            <a:ext cx="6949440" cy="29260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wins </a:t>
            </a:r>
            <a:pPr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planner shines: small joins and aggregations (Q02, Q03). </a:t>
            </a:r>
            <a:pPr indent="0" marL="0">
              <a:buNone/>
            </a:pPr>
            <a:r>
              <a:rPr lang="en-US" sz="1200" b="1" i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wins </a:t>
            </a:r>
            <a:pPr indent="0" marL="0">
              <a:buNone/>
            </a:pPr>
            <a:r>
              <a:rPr lang="en-US" sz="12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data is naturally a graph (Q07, Q10).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Speedup analysis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time ÷ Neo4j time — bars above 1 = Neo4j is faster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sessions/eager-wizardly-ramanujan/mnt/Progetto_Data/reports/figures/speedu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5486400" cy="29260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217920" y="1554480"/>
            <a:ext cx="2560320" cy="274320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  <a:effectLst>
            <a:outerShdw sx="100000" sy="100000" kx="0" ky="0" algn="bl" rotWithShape="0" blurRad="101600" dist="25400" dir="5400000">
              <a:srgbClr val="000000">
                <a:alpha val="20000"/>
              </a:srgbClr>
            </a:outerShdw>
          </a:effectLst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6217920" y="1554480"/>
            <a:ext cx="256032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6355080" y="169164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 — shortest path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355080" y="2103120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400" b="1" spc="-200" kern="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89x</a:t>
            </a:r>
            <a:endParaRPr lang="en-US" sz="8400" dirty="0"/>
          </a:p>
        </p:txBody>
      </p:sp>
      <p:sp>
        <p:nvSpPr>
          <p:cNvPr id="10" name="Text 7"/>
          <p:cNvSpPr/>
          <p:nvPr/>
        </p:nvSpPr>
        <p:spPr>
          <a:xfrm>
            <a:off x="6355080" y="3108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on Neo4j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6355080" y="36118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0CDE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Postgres: 712 ms  |  Neo4j: 8 ms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expressiveness — two dimensions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long is the query? How many logical operators does it use?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5" name="Image 0" descr="/sessions/eager-wizardly-ramanujan/mnt/Progetto_Data/reports/figures/lo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1417320"/>
            <a:ext cx="4297680" cy="2286000"/>
          </a:xfrm>
          <a:prstGeom prst="rect">
            <a:avLst/>
          </a:prstGeom>
        </p:spPr>
      </p:pic>
      <p:pic>
        <p:nvPicPr>
          <p:cNvPr id="6" name="Image 1" descr="/sessions/eager-wizardly-ramanujan/mnt/Progetto_Data/reports/figures/verbos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417320"/>
            <a:ext cx="4297680" cy="22860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7432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Lines of code (LOC)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4572000" y="3703320"/>
            <a:ext cx="4297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Cognitive verbosity (operators)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457200" y="4069080"/>
            <a:ext cx="8229600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0" name="Shape 6"/>
          <p:cNvSpPr/>
          <p:nvPr/>
        </p:nvSpPr>
        <p:spPr>
          <a:xfrm>
            <a:off x="457200" y="4069080"/>
            <a:ext cx="54864" cy="64008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1" name="Text 7"/>
          <p:cNvSpPr/>
          <p:nvPr/>
        </p:nvSpPr>
        <p:spPr>
          <a:xfrm>
            <a:off x="640080" y="4160520"/>
            <a:ext cx="7955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Q10:  21 SQL lines vs 3 Cypher lines  (7×)  ·  26 SQL operators vs 3 Cypher operators  (8.7×).  Cypher wins on both axes — and dramatically.</a:t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pPr indent="0" marL="0">
              <a:buNone/>
            </a:pPr>
            <a:r>
              <a:rPr lang="en-US" sz="1100" i="1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/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23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Q10 — Shortest path: a tale of two languages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question, two paradigms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417320"/>
            <a:ext cx="420624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417320"/>
            <a:ext cx="420624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recursive CTE (BFS)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WITH RECURSIVE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played_for AS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DISTINCT l.player_api_id,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CASE WHEN l.side='home' THEN m.home_team_api_id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      ELSE m.away_team_api_id END t,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m.season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match_lineup l JOIN match m USING (match_api_id)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bfs (player_api_id, distance) AS 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src, 0 FROM endpoints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UNION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SELECT pf2.player_api_id, b.distance + 1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FROM bfs b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played_for pf1 ON pf1.player_api_id = b.player_api_id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JOIN played_for pf2 ON pf2.t = pf1.t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AND pf2.season = pf1.season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  AND pf2.player_api_id &lt;&gt; b.player_api_id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WHERE b.distance &lt; 6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SELECT MIN(distance) FROM bfs ...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060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built-in shortestPath()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920240"/>
            <a:ext cx="39319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(a:Player {name: $player_a}),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(b:Player {name: $player_b})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path = shortestPath(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(a)-[:PLAYED_FOR*..12]-(b)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 length(path) / 2 AS hops;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4800600" y="3703320"/>
            <a:ext cx="3931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lines  →  3 lines
712 ms   →  8 ms
26 ops    →  3 ops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23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Q12 — Schema evolution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a new attribute to every Match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365760" y="1417320"/>
            <a:ext cx="420624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36791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365760" y="1417320"/>
            <a:ext cx="420624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502920" y="14173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DDL + DML, two steps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Step 1: change the schema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ALTER TABLE soccer.match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 COLUMN total_goals SMALLINT;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 Step 2: backfill the new column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UPDATE soccer.match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total_goals = home_team_goal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+ away_team_goal;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63440" y="1417320"/>
            <a:ext cx="4114800" cy="2743200"/>
          </a:xfrm>
          <a:prstGeom prst="rect">
            <a:avLst/>
          </a:prstGeom>
          <a:solidFill>
            <a:srgbClr val="FFFFFF"/>
          </a:solidFill>
          <a:ln w="12700">
            <a:solidFill>
              <a:srgbClr val="0078D4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663440" y="14173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800600" y="14173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schemaless, one step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800600" y="1874520"/>
            <a:ext cx="39319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Just SET the new property — no DDL,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no migration step, no row-by-row UPDATE.</a:t>
            </a:r>
            <a:endParaRPr lang="en-US" sz="1100" dirty="0"/>
          </a:p>
          <a:p>
            <a:pPr indent="0" marL="0">
              <a:buNone/>
            </a:pP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MATCH (m:Match)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SET   m.totalGoals = m.homeGoals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         + m.awayGoals;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4297680"/>
            <a:ext cx="8229600" cy="502920"/>
          </a:xfrm>
          <a:prstGeom prst="rect">
            <a:avLst/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40080" y="4343400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Schema-on-write (Postgres) </a:t>
            </a:r>
            <a:pPr indent="0" marL="0">
              <a:buNone/>
            </a:pPr>
            <a:r>
              <a:rPr lang="en-US" sz="11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schema-on-read (Neo4j) </a:t>
            </a:r>
            <a:pPr indent="0" marL="0">
              <a:buNone/>
            </a:pPr>
            <a:r>
              <a:rPr lang="en-US" sz="110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two steps and a brief table lock vs a single SET. </a:t>
            </a:r>
            <a:pPr indent="0" marL="0">
              <a:buNone/>
            </a:pPr>
            <a:r>
              <a:rPr lang="en-US" sz="1100" i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is the same in CPU, but very different in change-management.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23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Indexes are an engineering choice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ablation targets across both systems — drop, measure, restore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57200" y="1417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ran 7 index-query pairs (4 PG + 3 Neo4j) — each dropped, measured over 10 runs, then restored.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7452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365760" y="1874520"/>
            <a:ext cx="4114800" cy="36576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50292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— Q08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dropped: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4864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679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ix_lineup_player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4864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4864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3.2 ms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246888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46888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11.2 ms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54864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 · 10 runs median)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4663440" y="1874520"/>
            <a:ext cx="4114800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62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663440" y="1874520"/>
            <a:ext cx="4114800" cy="36576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00600" y="187452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— Q08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46320" y="23774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dropped: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846320" y="260604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78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player_name_idx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4632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index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4632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3.9 ms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766560" y="30175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index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766560" y="3246120"/>
            <a:ext cx="1737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 ms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4846320" y="41148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(measured · 10 runs median)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457200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Postgres: 3.48× slowdown without ix_lineup_player  ·  Neo4j: 1.91× slowdown without player_name_idx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23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takeaways from twelve queries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691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80160" y="158191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3679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 still wins where Postgres has always won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80160" y="19202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 aggregations and small-fan-out joins (Q02, Q03) — its planner has 30 years of optimisation that no graph engine matches.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46888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640080" y="2743200"/>
            <a:ext cx="457200" cy="457200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40080" y="27432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26334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78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Neo4j wins on graph workloads — by an order of magnitude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280160" y="297180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Multi-hop traversal, shortest path, presence-in-all-of: Q07 (6.2×), Q10 (89×). And the Cypher code is dramatically more concise.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520440"/>
            <a:ext cx="8229600" cy="9601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50800" dist="12700" dir="5400000">
              <a:srgbClr val="000000">
                <a:alpha val="8000"/>
              </a:srgbClr>
            </a:outerShdw>
          </a:effectLst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40080" y="3794760"/>
            <a:ext cx="457200" cy="457200"/>
          </a:xfrm>
          <a:prstGeom prst="ellipse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0080" y="3794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280160" y="368503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flexibility is a forgotten dimension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4023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Adding a new attribute is one statement in Neo4j vs ALTER + UPDATE in Postgres. In change-heavy environments this matters more than raw ms.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23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benchmark does not measure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23</a:t>
            </a:r>
            <a:endParaRPr lang="en-US" sz="900" dirty="0"/>
          </a:p>
        </p:txBody>
      </p:sp>
      <p:sp>
        <p:nvSpPr>
          <p:cNvPr id="30" name="TextBox 29"/>
          <p:cNvSpPr txBox="1"/>
          <p:nvPr/>
        </p:nvSpPr>
        <p:spPr>
          <a:xfrm>
            <a:off x="640080" y="15087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Single-node, single-user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87451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We measured in-memory, sequential workload. Concurrent reads/writes, lock contention, and MVCC under load are out of scope.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No tuning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Default configs on both engines. work_mem tested on Q07: no effect (report, sez. 10). A shared_buffers / pagecache grid could still shift the close category-A races.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4290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Dataset scale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917k events, 542k lineup rows — medium scale. LDBC-SNB-style synthetic graphs at 10× would stress Neo4j's traversal advantage further.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Future directions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Add OLTP write-heavy workload, test on PostgreSQL Citus (sharded) vs Neo4j Fabric, evaluate hybrid polyglot architectures.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4114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548640" y="9601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Specialised tools for distinct problems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1554480"/>
            <a:ext cx="3931920" cy="457200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PostgreSQL when…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77240" y="219456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1051560" y="2103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ACID transactions and strict integrity matter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77240" y="274320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1051560" y="2651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and OLAP-style aggregations dominate the workload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777240" y="329184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1051560" y="3200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is stable and well understood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77240" y="3840480"/>
            <a:ext cx="164592" cy="164592"/>
          </a:xfrm>
          <a:prstGeom prst="ellipse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105156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vertical scaling on a single, well-tuned node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1554480"/>
            <a:ext cx="3931920" cy="3108960"/>
          </a:xfrm>
          <a:prstGeom prst="rect">
            <a:avLst/>
          </a:prstGeom>
          <a:solidFill>
            <a:srgbClr val="FFFFFF"/>
          </a:solidFill>
          <a:ln w="254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663440" y="1554480"/>
            <a:ext cx="3931920" cy="457200"/>
          </a:xfrm>
          <a:prstGeom prst="rect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846320" y="15544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Choose Neo4j when…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892040" y="219456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166360" y="21031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is naturally a graph (people, places, events, networks)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4892040" y="274320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166360" y="26517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Queries traverse relationships (paths, neighbourhoods, communities)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4892040" y="329184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166360" y="32004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schema evolves frequently and unpredictably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4892040" y="3840480"/>
            <a:ext cx="164592" cy="164592"/>
          </a:xfrm>
          <a:prstGeom prst="ellipse">
            <a:avLst/>
          </a:prstGeom>
          <a:solidFill>
            <a:srgbClr val="0078D4"/>
          </a:solidFill>
          <a:ln w="12700">
            <a:solidFill>
              <a:srgbClr val="0078D4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166360" y="37490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23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need expressive query syntax for non-developers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23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77724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spc="-200" kern="0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demo time →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65760" cy="36576"/>
          </a:xfrm>
          <a:prstGeom prst="rect">
            <a:avLst/>
          </a:prstGeom>
          <a:solidFill>
            <a:srgbClr val="F5F7FA"/>
          </a:solidFill>
          <a:ln w="12700">
            <a:solidFill>
              <a:srgbClr val="F5F7FA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548640" y="2788920"/>
            <a:ext cx="54864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(Giuseppe):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github.com/g1up3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Repository (Nicolas): 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github.com/theunick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F5F7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Reports: 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reports/benchmark_report.md  ·  reports/dataset_exploration.md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766560" y="1828800"/>
            <a:ext cx="1828800" cy="2286000"/>
          </a:xfrm>
          <a:prstGeom prst="rect">
            <a:avLst/>
          </a:prstGeom>
          <a:solidFill>
            <a:srgbClr val="FFFFFF"/>
          </a:solidFill>
          <a:ln w="25400">
            <a:solidFill>
              <a:srgbClr val="F5A623"/>
            </a:solidFill>
            <a:prstDash val="solid"/>
          </a:ln>
        </p:spPr>
        <p:txBody>
          <a:bodyPr/>
          <a:p/>
        </p:txBody>
      </p:sp>
      <p:pic>
        <p:nvPicPr>
          <p:cNvPr id="8" name="Image 0" descr="/sessions/eager-wizardly-ramanujan/mnt/Progetto_Data/reports/figures/qr_githu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03720" y="1965960"/>
            <a:ext cx="1554480" cy="155448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6766560" y="361188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repo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0CD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23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457200" y="292608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B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457200" y="8412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in graph and relational benchmarking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207008"/>
            <a:ext cx="457200" cy="45720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0" y="4983480"/>
            <a:ext cx="9144000" cy="164592"/>
          </a:xfrm>
          <a:prstGeom prst="rect">
            <a:avLst/>
          </a:prstGeom>
          <a:solidFill>
            <a:srgbClr val="336791"/>
          </a:solidFill>
          <a:ln w="12700">
            <a:solidFill>
              <a:srgbClr val="336791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65760" y="4818888"/>
            <a:ext cx="54864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DM 2025/26  ·  D'Angelica &amp; Leone  ·  PostgreSQL vs Neo4j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818888"/>
            <a:ext cx="731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23</a:t>
            </a:r>
            <a:endParaRPr lang="en-US" sz="900" dirty="0"/>
          </a:p>
        </p:txBody>
      </p:sp>
      <p:sp>
        <p:nvSpPr>
          <p:cNvPr id="30" name="TextBox 29"/>
          <p:cNvSpPr txBox="1"/>
          <p:nvPr/>
        </p:nvSpPr>
        <p:spPr>
          <a:xfrm>
            <a:off x="640080" y="150876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Angles, Gutierrez (2008)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187451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Survey of Graph Database Models. ACM Computing Surveys, 40(1).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246888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Vicknair et al. (2010)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283464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A Comparison of a Graph Database and a Relational Database. ACM SE 2010.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342900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Holzschuher, Peinl (2013)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" y="37947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Performance of Graph Query Languages. EDBT/ICDT Workshops.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389120"/>
            <a:ext cx="7772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b="1" sz="1500">
                <a:solidFill>
                  <a:srgbClr val="801A2B"/>
                </a:solidFill>
              </a:rPr>
              <a:t>Erling et al. (2015)  ·  Robinson et al. (2015)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475488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/>
              <a:t>LDBC Social Network Benchmark (SIGMOD)  ·  Graph Databases, 2nd ed. (O'Reilly).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PostgreSQL vs Neo4j — DM 2025/26</dc:title>
  <dc:subject>PptxGenJS Presentation</dc:subject>
  <dc:creator>Giuseppe D'Angelica, Nicolas Leone</dc:creator>
  <cp:lastModifiedBy>Giuseppe D'Angelica, Nicolas Leone</cp:lastModifiedBy>
  <cp:revision>1</cp:revision>
  <dcterms:created xsi:type="dcterms:W3CDTF">2026-05-03T18:14:36Z</dcterms:created>
  <dcterms:modified xsi:type="dcterms:W3CDTF">2026-05-03T18:14:36Z</dcterms:modified>
</cp:coreProperties>
</file>