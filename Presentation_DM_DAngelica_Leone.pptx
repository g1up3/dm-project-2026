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280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spc="-100" kern="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vs Neo4j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experimental comparison on a real-world graph dataset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365760" cy="365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2461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Giuseppe D'Angelica  </a:t>
            </a:r>
            <a:pPr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github.com/g1up3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Nicolas Leone  </a:t>
            </a:r>
            <a:pPr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github.com/theunick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C0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Management 2025/26 — Sapienza Università di Roma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0" y="45262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 question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databases for the same data?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i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“When does a graph database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i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beat a relational one?”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3246120"/>
            <a:ext cx="38404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3246120"/>
            <a:ext cx="54864" cy="132588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335584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strengths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70332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Decades of optimisation, mature planner, B-tree indexes — perfect for OLAP-style aggregations and joins.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3246120"/>
            <a:ext cx="38404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3246120"/>
            <a:ext cx="54864" cy="13258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64608" y="335584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strengths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64608" y="370332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traversal of relationships, no joins. Built for shortest paths, friend-of-friend, communities.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Soccer Database — Hugo Mathien, Kaggle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1933956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1933956" cy="7315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83080"/>
            <a:ext cx="17510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25,979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724912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leagues · 8 seasons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55748" y="1554480"/>
            <a:ext cx="1933956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55748" y="1554480"/>
            <a:ext cx="1933956" cy="7315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47188" y="1783080"/>
            <a:ext cx="17510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11,060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647188" y="2423160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47188" y="2724912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FIFA-rating snapshots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54296" y="1554480"/>
            <a:ext cx="1933956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54296" y="1554480"/>
            <a:ext cx="1933956" cy="7315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45736" y="1783080"/>
            <a:ext cx="17510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917,815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745736" y="2423160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45736" y="2724912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from raw XML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52844" y="1554480"/>
            <a:ext cx="1933956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752844" y="1554480"/>
            <a:ext cx="1933956" cy="7315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44284" y="1783080"/>
            <a:ext cx="17510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542,281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6844284" y="2423160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lineup rows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44284" y="2724912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11+11 per match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3832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format: </a:t>
            </a:r>
            <a:pPr indent="0" marL="0">
              <a:buNone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300-MB SQLite file. The Match table is 115 columns wide and contains XML-encoded events that we parsed and normalised.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schema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model, two implementations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830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926080" y="17830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19456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148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League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26080" y="21488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56032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5146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26080" y="2514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299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92608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28803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926080" y="28803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11,060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29184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2461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926080" y="32461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25,979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36118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MatchEvent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926080" y="36118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917,815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402336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39776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PlayerStats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92608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183,978 snapshots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38912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43434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TeamStats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92608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1,458 snapshots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754880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800600" y="1828800"/>
            <a:ext cx="164592" cy="164592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74920" y="17830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League  IN  Country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800600" y="2194560"/>
            <a:ext cx="164592" cy="164592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4920" y="21488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 IN  League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800600" y="2560320"/>
            <a:ext cx="164592" cy="164592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74920" y="25146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 HOME  Team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800600" y="2926080"/>
            <a:ext cx="164592" cy="164592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74920" y="28803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 AWAY  Team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800600" y="3291840"/>
            <a:ext cx="164592" cy="164592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74920" y="32461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 LINEUP  Match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4800600" y="3657600"/>
            <a:ext cx="164592" cy="164592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74920" y="36118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MatchEvent  OF  Match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800600" y="4023360"/>
            <a:ext cx="164592" cy="164592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9776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MatchEvent  BY  Player1 / Player2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800600" y="4389120"/>
            <a:ext cx="164592" cy="164592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74920" y="4343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Player/Team  HAS  Stats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decision: explode the wide Match table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1463040"/>
          </a:xfrm>
          <a:prstGeom prst="rect">
            <a:avLst/>
          </a:prstGeom>
          <a:solidFill>
            <a:srgbClr val="FFE9E9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6276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— source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table: 115 columns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lineup columns + 8 raw XML fields + 20 betting odds + base info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2628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029200" y="1554480"/>
            <a:ext cx="3657600" cy="1463040"/>
          </a:xfrm>
          <a:prstGeom prst="rect">
            <a:avLst/>
          </a:prstGeom>
          <a:solidFill>
            <a:srgbClr val="EAFBF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66360" y="162763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— normalised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166360" y="192024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tables: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66360" y="21945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    </a:t>
            </a:r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(25,979 rows)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match_lineup    </a:t>
            </a:r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(542,281)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match_event    </a:t>
            </a:r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(917,815)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match_odds    </a:t>
            </a:r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(out of scope)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2004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explode it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35204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Readable SQL —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on match_lineup is far clearer than scanning 22 wide columns.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Normalised semantics —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become rows you can index and aggregate.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Symmetry with the graph —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conceptual entities map naturally to nodes and relationships.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for entities, relationships for events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28700" y="1760220"/>
            <a:ext cx="1600200" cy="82296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007108"/>
            <a:ext cx="1554480" cy="256032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IN_COUNTRY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8700" y="2583180"/>
            <a:ext cx="320040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51660" y="2418588"/>
            <a:ext cx="1554480" cy="256032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PLAYS_IN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29100" y="2583180"/>
            <a:ext cx="187452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2418588"/>
            <a:ext cx="1554480" cy="256032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/ AWAY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03620" y="2583180"/>
            <a:ext cx="1828800" cy="914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0780" y="2290572"/>
            <a:ext cx="1554480" cy="256032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LINEUP_OF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03620" y="2583180"/>
            <a:ext cx="1828800" cy="914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0780" y="2674620"/>
            <a:ext cx="1554480" cy="256032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SCORED_IN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103120" y="1508760"/>
            <a:ext cx="1051560" cy="50292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103120" y="15087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331720"/>
            <a:ext cx="1051560" cy="50292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" y="23317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League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703320" y="2331720"/>
            <a:ext cx="1051560" cy="50292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703320" y="23317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577840" y="2331720"/>
            <a:ext cx="1051560" cy="502920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577840" y="23317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406640" y="2331720"/>
            <a:ext cx="1051560" cy="50292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406640" y="23317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457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291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Cypher relationship types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361188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(:League)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-[:IN_COUNTRY]-&gt;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(:Country)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(:Team)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-[:PLAYS_IN]-&gt;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(:League)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3367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(:Match)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-[:HOME|AWAY]-&gt;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(:Team)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617720" y="361188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(:Player)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-[:LINEUP_OF {side,x,y}]-&gt;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3367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(:Match)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(:Player)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-[:SCORED_IN {minute}]-&gt;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3367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(:Match)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(:Player)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-[:PLAYED_FOR {season}]-&gt;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(:Team)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pipeline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SQLite to two databases — fully automated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691640"/>
            <a:ext cx="16276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691640"/>
            <a:ext cx="1627632" cy="4572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1856232"/>
            <a:ext cx="402336" cy="402336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85623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38912" y="23317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38912" y="26517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all tables from database.sqlite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997964" y="228600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112264" y="1691640"/>
            <a:ext cx="16276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112264" y="1691640"/>
            <a:ext cx="1627632" cy="4572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24912" y="1856232"/>
            <a:ext cx="402336" cy="402336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12264" y="185623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185416" y="23317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185416" y="26517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XML events, explode lineup, fix orphan FKs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744468" y="228600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858768" y="1691640"/>
            <a:ext cx="16276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858768" y="1691640"/>
            <a:ext cx="1627632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71416" y="1856232"/>
            <a:ext cx="402336" cy="40233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58768" y="185623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931920" y="23317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CSVs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931920" y="26517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CSV files in clean/, ready for both DBs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90972" y="228600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05272" y="1691640"/>
            <a:ext cx="16276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605272" y="1691640"/>
            <a:ext cx="1627632" cy="4572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17920" y="1856232"/>
            <a:ext cx="402336" cy="402336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05272" y="185623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678424" y="23317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Postgres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678424" y="26517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DDL + COPY (fast bulk insert)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237476" y="228600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351776" y="1691640"/>
            <a:ext cx="16276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351776" y="1691640"/>
            <a:ext cx="1627632" cy="457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64424" y="1856232"/>
            <a:ext cx="402336" cy="402336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1776" y="185623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424928" y="23317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Neo4j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424928" y="26517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CSV + derive PLAYED_FOR aggregation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02920" y="3584448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3520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foreign keys: 100% integral — zero orphans across 542k+ references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02920" y="3877056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1520" y="3813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parsing: 14,196 matches with events → 917,815 typed rows in match_event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02920" y="4169664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410565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Re-running the pipeline from scratch: ~7 minutes end-to-end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challenges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real problems we ran into — and how we solved them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54864" cy="10058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737360"/>
            <a:ext cx="457200" cy="45720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1627632"/>
            <a:ext cx="7360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5,632 orphan player references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34440" y="1965960"/>
            <a:ext cx="7360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XML-parsed events referenced player IDs absent from the Player table. We nullified them in transform.py — preserved 100% of events, lost only the attribution for 0.5% of them. Result: full FK integrity.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578608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578608"/>
            <a:ext cx="54864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852928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4440" y="2743200"/>
            <a:ext cx="7360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serialised INTEGER NULL as "673.0"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3081528"/>
            <a:ext cx="7360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rejected COPY for `team_fifa_api_id`. Fix: auto-detect integer-with-NaN columns and cast to pandas Int64 before writing CSV. Bonus: shrunk player_stats.csv from 38 MB to 25 MB.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694176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694176"/>
            <a:ext cx="54864" cy="10058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968496"/>
            <a:ext cx="457200" cy="4572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4440" y="3858768"/>
            <a:ext cx="7360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card_type CHAR(1) was too narrow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4197096"/>
            <a:ext cx="7360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schema didn't anticipate "y2" — the second-yellow code, rare but present. Widened to VARCHAR(2). The kind of bug only the full load reveals.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fix is small in isolation; together they make the pipeline reproducible end-to-end.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methodology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questions in two languages — and check they say the same thing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2697480" cy="45720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2763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06040" y="16276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discarded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310896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Avoids cold-cache bias on both DBs; medians computed only on the next 5 runs.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37560" y="15544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37560" y="1554480"/>
            <a:ext cx="2697480" cy="4572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0440" y="162763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stats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0" y="16276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6616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+ IQR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566160" y="310896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is robust to outliers. We also report min, max, IQR.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15544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1554480"/>
            <a:ext cx="2697480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62763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equivalence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66760" y="16276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4652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Set-equality check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46520" y="310896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result-sets normalised (rounding, dates, decimals) and compared as sets. All 10 read-queries: OK.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queries, four categories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Increasing graph-friendliness, plus write workloads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411480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679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Q01–Q04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Aggregations &amp; 2–3 way joins (top scorers, standings, win pct)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 should win or tie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Q05–Q07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Multi-hop joins, self-joins, presence-in-all-of (8 seasons)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F5A6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Slight Neo4j 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Q08–Q10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traversal: teammates, 2-hop, shortest 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 should win clearly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Q11–Q12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Bulk UPDATE; schema evolution (add a new attribute)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paradigms compared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queries are written twice — same logic in SQL and in Cypher — and parameterised.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 in queries/sql/Q01..Q12.sql and queries/cypher/Q01..Q12.cypher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10 read queries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produced equivalent results in both systems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457200"/>
                <a:gridCol w="914400"/>
                <a:gridCol w="914400"/>
                <a:gridCol w="118872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 (ms)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679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 (ms)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scorers by season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2.19x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League standings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10.2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6.14x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Goals per match by league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2.54x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win % by team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18.1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1.02x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Goal-assist partnerships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5A6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64.0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47.7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1.34x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Cards vs Real Madrid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5A6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22.6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2.99x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Players in all 8 seasons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5A6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1313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6.70x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Teammates of Messi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2-hop teammates of Messi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1.59x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Shortest path Messi→Pirlo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5A62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71.10x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per query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time, log scale — lower is better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5" name="Image 0" descr="/sessions/eager-wizardly-ramanujan/mnt/Progetto_Data/reports/figures/perf_by_que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417320"/>
            <a:ext cx="6949440" cy="2926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wins </a:t>
            </a:r>
            <a:pPr indent="0" marL="0">
              <a:buNone/>
            </a:pPr>
            <a:r>
              <a:rPr lang="en-US" sz="12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planner shines: small joins and aggregations (Q02, Q03). </a:t>
            </a:r>
            <a:pPr indent="0" marL="0">
              <a:buNone/>
            </a:pPr>
            <a:r>
              <a:rPr lang="en-US" sz="1200" b="1" i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wins </a:t>
            </a:r>
            <a:pPr indent="0" marL="0">
              <a:buNone/>
            </a:pPr>
            <a:r>
              <a:rPr lang="en-US" sz="12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data is naturally a graph (Q07, Q10).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analysis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time ÷ Neo4j time — bars above 1 = Neo4j is faster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5" name="Image 0" descr="/sessions/eager-wizardly-ramanujan/mnt/Progetto_Data/reports/figures/spee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5486400" cy="2926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17920" y="1554480"/>
            <a:ext cx="2560320" cy="27432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217920" y="1554480"/>
            <a:ext cx="256032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55080" y="16916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Q10 — shortest path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355080" y="21031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spc="-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71x</a:t>
            </a:r>
            <a:endParaRPr lang="en-US" sz="8400" dirty="0"/>
          </a:p>
        </p:txBody>
      </p:sp>
      <p:sp>
        <p:nvSpPr>
          <p:cNvPr id="10" name="Text 7"/>
          <p:cNvSpPr/>
          <p:nvPr/>
        </p:nvSpPr>
        <p:spPr>
          <a:xfrm>
            <a:off x="6355080" y="3108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on Neo4j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355080" y="3611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C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Postgres: 601 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0C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Neo4j: 8.5 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expressiveness — two dimensions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is the query? How many logical operators does it use?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5" name="Image 0" descr="/sessions/eager-wizardly-ramanujan/mnt/Progetto_Data/reports/figures/l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4297680" cy="2286000"/>
          </a:xfrm>
          <a:prstGeom prst="rect">
            <a:avLst/>
          </a:prstGeom>
        </p:spPr>
      </p:pic>
      <p:pic>
        <p:nvPicPr>
          <p:cNvPr id="6" name="Image 1" descr="/sessions/eager-wizardly-ramanujan/mnt/Progetto_Data/reports/figures/verbo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417320"/>
            <a:ext cx="4297680" cy="2286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74320" y="3703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 (LOC)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572000" y="3703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verbosity (operators)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457200" y="4069080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41605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Q10:  </a:t>
            </a:r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SQL lines vs 3 Cypher lines  </a:t>
            </a:r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(10×)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SQL operators vs 3 Cypher operators  </a:t>
            </a:r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(9.3×)</a:t>
            </a:r>
            <a:pPr indent="0" marL="0">
              <a:buNone/>
            </a:pPr>
            <a:r>
              <a:rPr lang="en-US" sz="11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Cypher wins on both axes — and dramatically.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Q10 — Shortest path: a tale of two languages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question, two paradigms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42062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6791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417320"/>
            <a:ext cx="4206240" cy="3657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173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recursive CTE (BFS)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39319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RECURSIVE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played_for AS 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 DISTINCT l.player_api_id,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WHEN l.side='home' THEN m.home_team_api_id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ELSE m.away_team_api_id END t,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m.season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match_lineup l JOIN match m USING (match_api_id)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bfs (player_api_id, distance) AS 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 src, 0 FROM endpoints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UNION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 pf2.player_api_id, b.distance + 1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bfs b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JOIN played_for pf1 ON pf1.player_api_id = b.player_api_id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JOIN played_for pf2 ON pf2.t = pf1.t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AND pf2.season = pf1.season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AND pf2.player_api_id &lt;&gt; b.player_api_id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WHERE b.distance &lt; 6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MIN(distance) FROM bfs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114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417320"/>
            <a:ext cx="4114800" cy="3657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417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— built-in shortestPath()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0600" y="1920240"/>
            <a:ext cx="3931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(a:Player {name: $player_a}),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(b:Player {name: $player_b})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 path = shortestPath(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(a)-[:PLAYED_FOR*..6]-(b)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length(path) / 2 AS hops;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800600" y="370332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lines  →  3 lines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601 ms   →  8.5 ms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Q12 — Schema evolution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new attribute to every Match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42062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6791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417320"/>
            <a:ext cx="4206240" cy="3657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173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DDL + DML, two steps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3931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Step 1: change the schema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 TABLE soccer.match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ADD COLUMN total_goals SMALLINT;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Step 2: backfill the new column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soccer.match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total_goals = home_team_goal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+ away_team_goal;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1148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417320"/>
            <a:ext cx="4114800" cy="3657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417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— schemaless, one step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0600" y="1874520"/>
            <a:ext cx="3931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Just SET the new property — no DDL,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migration step, no row-by-row UPDATE.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 (m:Match)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  m.totalGoals = m.homeGoals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+ m.awayGoals;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297680"/>
            <a:ext cx="8229600" cy="5029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343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Schema-on-write (Postgres) </a:t>
            </a:r>
            <a:pPr indent="0" marL="0">
              <a:buNone/>
            </a:pPr>
            <a:r>
              <a:rPr lang="en-US" sz="1100" dirty="0">
                <a:solidFill>
                  <a:srgbClr val="C0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</a:t>
            </a:r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schema-on-read (Neo4j) </a:t>
            </a:r>
            <a:pPr indent="0" marL="0">
              <a:buNone/>
            </a:pPr>
            <a:r>
              <a:rPr lang="en-US" sz="11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two steps and a brief table lock vs a single SET. </a:t>
            </a:r>
            <a:pPr indent="0" marL="0">
              <a:buNone/>
            </a:pPr>
            <a:r>
              <a:rPr lang="en-US" sz="1100" i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is the same in CPU, but very different in change-management.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 are an engineering choice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one critical index, watch the world burn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ran Q08 (teammates of Messi) three times on each system: with the index, without, and with it back.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87452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874520"/>
            <a:ext cx="4114800" cy="3657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Q08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377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dropped: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6060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67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ix_lineup_player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017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index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2461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ms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468880" y="3017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index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468880" y="32461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 ms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48640" y="4114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(measured live during the demo)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187452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1874520"/>
            <a:ext cx="4114800" cy="3657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1874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— Q08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0" y="2377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dropped: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26060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player_name_idx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3017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index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32461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 ms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766560" y="3017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index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66560" y="32461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 ms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846320" y="4114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(measured live during the demo)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benchmark/index_ablation.py to fill in the “without index” numbers — they vary by hardware.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takeaways from twelve queries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58191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still wins where Postgres has always won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80160" y="1920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aggregations and small-fan-out joins (Q02, Q03) — its planner has 30 years of optimisation that no graph engine matches.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743200"/>
            <a:ext cx="457200" cy="4572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26334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wins on graph workloads — by an order of magnitude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80160" y="2971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traversal, shortest path, presence-in-all-of: Q07 (6.7×), Q10 (71×). And the Cypher code is dramatically more concise.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794760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80160" y="36850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flexibility is a forgotten dimension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402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new attribute is one statement in Neo4j vs ALTER + UPDATE in Postgres. In change-heavy environments this matters more than raw ms.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Specialised tools for distinct problems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93192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33679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554480"/>
            <a:ext cx="3931920" cy="45720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PostgreSQL when…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219456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1031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transactions and strict integrity matter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274320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6517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and OLAP-style aggregations dominate the workload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329184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32004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schema is stable and well understood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384048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7490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vertical scaling on a single, well-tuned node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1554480"/>
            <a:ext cx="393192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3440" y="1554480"/>
            <a:ext cx="3931920" cy="4572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Neo4j when…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892040" y="2194560"/>
            <a:ext cx="164592" cy="164592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66360" y="21031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naturally a graph (people, places, events, networks)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92040" y="2743200"/>
            <a:ext cx="164592" cy="164592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66360" y="26517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traverse relationships (paths, neighbourhoods, communities)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892040" y="3291840"/>
            <a:ext cx="164592" cy="164592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66360" y="32004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schema evolves frequently and unpredictably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892040" y="3840480"/>
            <a:ext cx="164592" cy="164592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66360" y="37490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expressive query syntax for non-developers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0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777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-200" kern="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time →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65760" cy="365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78892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(Giuseppe):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github.com/g1up3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(Nicolas): 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github.com/theunick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C0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reports/benchmark_report.md  ·  reports/dataset_exploration.md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766560" y="1828800"/>
            <a:ext cx="1828800" cy="2286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5A623"/>
            </a:solidFill>
            <a:prstDash val="solid"/>
          </a:ln>
        </p:spPr>
      </p:sp>
      <p:pic>
        <p:nvPicPr>
          <p:cNvPr id="8" name="Image 0" descr="/sessions/eager-wizardly-ramanujan/mnt/Progetto_Data/reports/figures/qr_githu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965960"/>
            <a:ext cx="1554480" cy="1554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766560" y="3611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for repo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0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PostgreSQL vs Neo4j — DM 2025/26</dc:title>
  <dc:subject>PptxGenJS Presentation</dc:subject>
  <dc:creator>Giuseppe D'Angelica, Nicolas Leone</dc:creator>
  <cp:lastModifiedBy>Giuseppe D'Angelica, Nicolas Leone</cp:lastModifiedBy>
  <cp:revision>1</cp:revision>
  <dcterms:created xsi:type="dcterms:W3CDTF">2026-05-03T18:14:36Z</dcterms:created>
  <dcterms:modified xsi:type="dcterms:W3CDTF">2026-05-03T18:14:36Z</dcterms:modified>
</cp:coreProperties>
</file>