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4" r:id="rId25"/>
    <p:sldId id="270" r:id="rId16"/>
    <p:sldId id="271" r:id="rId17"/>
    <p:sldId id="272" r:id="rId18"/>
    <p:sldId id="273" r:id="rId19"/>
    <p:sldId id="275" r:id="rId26"/>
    <p:sldId id="276" r:id="rId27"/>
    <p:sldId id="277" r:id="rId28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5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sec. Presentarsi. Una frase: abbiamo messo lo stesso dataset in due paradigmi diversi e li abbiamo messi in gara.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sec. Il messaggio intero subito: nessun vincitore assoluto. Se il pubblico si distrae dopo questa slide, ha già capito tutto.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sec. La domanda di ricerca: non 'quale è meglio' ma 'quando'. Due paradigmi con punti di forza dichiarati ex-ante.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sec. Dataset reale, non sintetico. Sottolineare i 917k eventi parsati da XML grezzo: il lavoro di ETL è parte del contributo.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sec. La decisione chiave: esplodere la tabella Match. Tre motivi: leggibilità, semantica normalizzata, simmetria col grafo — la simmetria è ciò che rende il confronto equo.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sec. Stesse entità concettuali, ma gli eventi diventano relazioni tipizzate: SCORED_IN, LINEUP_OF, PLAYED_FOR. Navigarle non richiede join.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sec. Non leggere gli step: dire solo che è tutto automatizzato e riproducibile in 7 minuti, con integrità referenziale totale. I tre bug risolti sono in 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sec. Slide di credibilità: mediana + bootstrap CI + Mann-Whitney, ed equivalenza dei risultati verificata come insiemi. Sottolineare la materialized view: nessun vantaggio strutturale a nessuno dei due.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sec. Punto di credibilità scientifica: le ipotesi sono dichiarate PRIMA di misurare. Graph-friendliness crescente da A a C, più i workload di scrittura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 sec — la slide centrale, rallentare. Leggere il pattern, non i numeri: tutte le A a Postgres, poi il campo si ribalta. Q09 è l'eccezione interessante: il 2-hop con dedup è un'aggregazione mascherata. 11 su 12 differenze significative.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45 sec. Pausa a effetto. Non è tuning: il recursive CTE esplora tutto il fan-out, SHORTEST 1 si ferma appena tocca. Complessità diversa, non costante diversa.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60 sec. La sproporzione visiva È il messaggio: stessa domanda, 21 righe contro 5. Non leggere il codice: indicare solo la CTE ricorsiva a sinistra e SHORTEST 1 a destra. If asked how we know the semantics match: we ran both formulations on 8 player pairs; the legacy shortestPath() answered 2 hops on Ibrahimovic-Neuer where the season-aware BFS says 3, so we replaced it. That is how we know the 55x is real and not an artefact of a laxer 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60 sec. Due dimensioni non-performance: concisione del codice e agilità dello schema. Q12: ALTER + UPDATE + lock contro un singolo SET — 4.5 volte più veloce, ma il punto vero è il change-management.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sec. Tre takeaway, uno per paradigma più la dimensione dimenticata dello schema. Chiudere con il caveat in una riga: singolo nodo, configurazioni default — dettagli in 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sec. Chiusura: non 'quale è meglio' ma 'quale problema hai'. Quattro criteri, due risposte. Poi grazie e passaggio alla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per Q&amp;A: i tre bug reali risolti nella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per Q&amp;A sul rigore sperimentale: ablation study su 7 coppie indice-query, drop-measure-restore.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limiti dichiarati e riferimenti bibliografici.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dimensions the benchmark numbers hide. Ease of use: schema-first is a feature, not friction — the FK check caught 5,653 orphan references that Neo4j would have loaded silently; and keeping the two systems side by side caught three more silent bugs. Scalability, measured: on Q07 Postgres grows 3.3x with 4x the data while Neo4j grows 1.4x — the graph edge widens; on Q09 the fixed-depth join keeps its lead at every size. Caveat: all of this is single node — index-free adjacency does not partition for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the Q&amp;A: one line per query, with the category. Use it if the professor asks what a specific query does before asking us to write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Backup: the complete table behind the chart on slide 10. Use it when asked for a specific number, a p-value or the effect size; the CSVs are in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the fairness question. The view is the relational twin of the derived edge: same tuples, same cardinality, both built once at load time and indexed. Q09 and Q10 read it; Q08 does not, on either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36" y="3817011"/>
            <a:ext cx="17392636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6FA0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 EXPERIMENTAL COMPARISON ON A REAL-WORLD GRAPH DATASET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36" y="4455421"/>
            <a:ext cx="17392636" cy="128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0" b="1" spc="-192" kern="0" dirty="0">
                <a:solidFill>
                  <a:srgbClr val="7FA8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PostgreSQL </a:t>
            </a:r>
            <a:pPr algn="l" indent="0" marL="0">
              <a:lnSpc>
                <a:spcPct val="102000"/>
              </a:lnSpc>
              <a:buNone/>
            </a:pPr>
            <a:r>
              <a:rPr lang="en-US" sz="9600" b="1" spc="-192" kern="0" dirty="0">
                <a:solidFill>
                  <a:srgbClr val="F2EF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vs </a:t>
            </a:r>
            <a:pPr algn="l" indent="0" marL="0">
              <a:lnSpc>
                <a:spcPct val="102000"/>
              </a:lnSpc>
              <a:buNone/>
            </a:pPr>
            <a:r>
              <a:rPr lang="en-US" sz="9600" b="1" spc="-192" kern="0" dirty="0">
                <a:solidFill>
                  <a:srgbClr val="6FC79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Neo4j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238236" y="5965650"/>
            <a:ext cx="17392636" cy="54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C8C2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When the graph beats the table — and when it doesn't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238236" y="8692921"/>
            <a:ext cx="4958201" cy="368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2EF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Giuseppe D'Angelica </a:t>
            </a:r>
            <a:pPr algn="l" indent="0" marL="0">
              <a:buNone/>
            </a:pPr>
            <a:r>
              <a:rPr lang="en-US" sz="1575" dirty="0">
                <a:solidFill>
                  <a:srgbClr val="8B96A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github.com/g1up3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1238236" y="9099417"/>
            <a:ext cx="4958201" cy="368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2EFE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Nicolas Leone </a:t>
            </a:r>
            <a:pPr algn="l" indent="0" marL="0">
              <a:buNone/>
            </a:pPr>
            <a:r>
              <a:rPr lang="en-US" sz="1575" dirty="0">
                <a:solidFill>
                  <a:srgbClr val="8B96A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github.com/theunick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0725564" y="8772808"/>
            <a:ext cx="6324159" cy="695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8B96A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Management 2025/26 — Sapienza Università di Roma Tutor: Roberto Maria Delfino</a:t>
            </a:r>
            <a:endParaRPr lang="en-US" sz="17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57146"/>
            <a:ext cx="18021508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EXECUTIVE SUMMARY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385" y="1306710"/>
            <a:ext cx="15304735" cy="13135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spc="-70" kern="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absolute winner: Neo4j dominates variable-depth traversals (55×), Postgres keeps the fixed-depth join</a:t>
            </a:r>
            <a:endParaRPr lang="en-US" sz="4650" dirty="0"/>
          </a:p>
        </p:txBody>
      </p:sp>
      <p:sp>
        <p:nvSpPr>
          <p:cNvPr id="4" name="Shape 2"/>
          <p:cNvSpPr/>
          <p:nvPr/>
        </p:nvSpPr>
        <p:spPr>
          <a:xfrm>
            <a:off x="952385" y="3439318"/>
            <a:ext cx="5207004" cy="3921488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418252" y="3981403"/>
            <a:ext cx="4702797" cy="1276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0" b="1" dirty="0">
                <a:solidFill>
                  <a:srgbClr val="1E7A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55×</a:t>
            </a:r>
            <a:endParaRPr lang="en-US" sz="9750" dirty="0"/>
          </a:p>
        </p:txBody>
      </p:sp>
      <p:sp>
        <p:nvSpPr>
          <p:cNvPr id="6" name="Text 4"/>
          <p:cNvSpPr/>
          <p:nvPr/>
        </p:nvSpPr>
        <p:spPr>
          <a:xfrm>
            <a:off x="1418252" y="5333898"/>
            <a:ext cx="4702797" cy="40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faster shortest path on Neo4j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18252" y="5813350"/>
            <a:ext cx="4403528" cy="998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Q10: 792 ms in Postgres, 14 ms in Neo4j — identical semantics, a change of complexity class.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40342" y="3439318"/>
            <a:ext cx="5207139" cy="3921488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006209" y="3981403"/>
            <a:ext cx="4702946" cy="1276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0" b="1" dirty="0">
                <a:solidFill>
                  <a:srgbClr val="3360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2.7×</a:t>
            </a:r>
            <a:endParaRPr lang="en-US" sz="9750" dirty="0"/>
          </a:p>
        </p:txBody>
      </p:sp>
      <p:sp>
        <p:nvSpPr>
          <p:cNvPr id="10" name="Text 8"/>
          <p:cNvSpPr/>
          <p:nvPr/>
        </p:nvSpPr>
        <p:spPr>
          <a:xfrm>
            <a:off x="7006209" y="5333898"/>
            <a:ext cx="4403668" cy="768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Postgres on the fixed-depth join (Q09)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7006209" y="6178544"/>
            <a:ext cx="4403668" cy="678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 the same precomputation, B-tree joins beat the traversal 2.7× — and the lead widens as data grows.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128435" y="3439318"/>
            <a:ext cx="5207139" cy="3921488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594302" y="3981403"/>
            <a:ext cx="4702946" cy="1276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0" b="1" dirty="0">
                <a:solidFill>
                  <a:srgbClr val="1E7A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4×</a:t>
            </a:r>
            <a:endParaRPr lang="en-US" sz="9750" dirty="0"/>
          </a:p>
        </p:txBody>
      </p:sp>
      <p:sp>
        <p:nvSpPr>
          <p:cNvPr id="14" name="Text 12"/>
          <p:cNvSpPr/>
          <p:nvPr/>
        </p:nvSpPr>
        <p:spPr>
          <a:xfrm>
            <a:off x="12594302" y="5333898"/>
            <a:ext cx="4702946" cy="40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shorter code in Cypher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594302" y="5813350"/>
            <a:ext cx="4403668" cy="998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21 SQL lines become 5 Cypher lines on the shortest path; 2× shorter on average across the 12.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2385" y="9633214"/>
            <a:ext cx="632952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DM 2025/26 · D'Angelica &amp; Leone · PostgreSQL vs Neo4j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6575568" y="9633214"/>
            <a:ext cx="836206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16</a:t>
            </a:r>
            <a:endParaRPr lang="en-US" sz="14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57146"/>
            <a:ext cx="18021508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RESEARCH QUESTION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385" y="1306710"/>
            <a:ext cx="18021508" cy="655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spc="-67" kern="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When does a graph database actually beat a relational one?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2766927" y="2590595"/>
            <a:ext cx="12753970" cy="116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30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Same data, same questions, two paradigms — measured, not argued.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952385" y="4483952"/>
            <a:ext cx="8001118" cy="28946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85" y="7369908"/>
            <a:ext cx="8001118" cy="9525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2385" y="4483952"/>
            <a:ext cx="8001118" cy="52171"/>
          </a:xfrm>
          <a:prstGeom prst="rect">
            <a:avLst/>
          </a:prstGeom>
          <a:solidFill>
            <a:srgbClr val="33608F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52385" y="4483952"/>
            <a:ext cx="9525" cy="2894652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944808" y="4483952"/>
            <a:ext cx="9525" cy="2894652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56293" y="4955117"/>
            <a:ext cx="7692632" cy="420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60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Relational strengths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56293" y="5566220"/>
            <a:ext cx="7692632" cy="39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Mature planner, decades of optimisation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456293" y="6078551"/>
            <a:ext cx="7692632" cy="39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B-tree indexes, OLAP-style aggregations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456293" y="6590882"/>
            <a:ext cx="7692632" cy="39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Joins as a first-class, well-tuned citizen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9334456" y="4483952"/>
            <a:ext cx="8001118" cy="28946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334456" y="7369908"/>
            <a:ext cx="8001118" cy="9525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334456" y="4483952"/>
            <a:ext cx="8001118" cy="52171"/>
          </a:xfrm>
          <a:prstGeom prst="rect">
            <a:avLst/>
          </a:prstGeom>
          <a:solidFill>
            <a:srgbClr val="1E7A52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334456" y="4483952"/>
            <a:ext cx="9525" cy="2894652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7326879" y="4483952"/>
            <a:ext cx="9525" cy="2894652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838365" y="4955117"/>
            <a:ext cx="7692632" cy="420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7A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Graph strengths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838365" y="5566220"/>
            <a:ext cx="7692632" cy="39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Native traversal of relationships — no joins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9838365" y="6078551"/>
            <a:ext cx="7692632" cy="39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Built for paths, neighbourhoods, communities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9838365" y="6590882"/>
            <a:ext cx="7692632" cy="39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25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Schema-on-read flexibility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952385" y="9633214"/>
            <a:ext cx="632952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DM 2025/26 · D'Angelica &amp; Leone · PostgreSQL vs Neo4j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6575568" y="9633214"/>
            <a:ext cx="836206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16</a:t>
            </a:r>
            <a:endParaRPr lang="en-US" sz="14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57146"/>
            <a:ext cx="18021508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DATASET — EUROPEAN SOCCER DATABASE (KAGGLE, H. MATHIEN)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385" y="1306710"/>
            <a:ext cx="15697119" cy="1272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spc="-67" kern="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real, non-trivial dataset: 25,979 matches and 917,815 events parsed from raw XML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385" y="3303049"/>
            <a:ext cx="3838613" cy="2565597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80075" y="3768916"/>
            <a:ext cx="3281556" cy="83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126" kern="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25,979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1380075" y="4702280"/>
            <a:ext cx="3281556" cy="40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matches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380075" y="5124536"/>
            <a:ext cx="3281556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 leagues · 8 seasons</a:t>
            </a:r>
            <a:endParaRPr lang="en-US" sz="1725" dirty="0"/>
          </a:p>
        </p:txBody>
      </p:sp>
      <p:sp>
        <p:nvSpPr>
          <p:cNvPr id="8" name="Shape 6"/>
          <p:cNvSpPr/>
          <p:nvPr/>
        </p:nvSpPr>
        <p:spPr>
          <a:xfrm>
            <a:off x="5133774" y="3303049"/>
            <a:ext cx="3838749" cy="2565597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561465" y="3768916"/>
            <a:ext cx="3281706" cy="83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126" kern="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11,060</a:t>
            </a:r>
            <a:endParaRPr lang="en-US" sz="6300" dirty="0"/>
          </a:p>
        </p:txBody>
      </p:sp>
      <p:sp>
        <p:nvSpPr>
          <p:cNvPr id="10" name="Text 8"/>
          <p:cNvSpPr/>
          <p:nvPr/>
        </p:nvSpPr>
        <p:spPr>
          <a:xfrm>
            <a:off x="5561465" y="4702280"/>
            <a:ext cx="3281706" cy="40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players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561465" y="5124536"/>
            <a:ext cx="3281706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 FIFA-rating snapshots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9315300" y="3303049"/>
            <a:ext cx="3838749" cy="2565597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742990" y="3768916"/>
            <a:ext cx="3281706" cy="83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126" kern="0" dirty="0">
                <a:solidFill>
                  <a:srgbClr val="1E7A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917,815</a:t>
            </a:r>
            <a:endParaRPr lang="en-US" sz="6300" dirty="0"/>
          </a:p>
        </p:txBody>
      </p:sp>
      <p:sp>
        <p:nvSpPr>
          <p:cNvPr id="14" name="Text 12"/>
          <p:cNvSpPr/>
          <p:nvPr/>
        </p:nvSpPr>
        <p:spPr>
          <a:xfrm>
            <a:off x="9742990" y="4702280"/>
            <a:ext cx="3281706" cy="40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events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742990" y="5124536"/>
            <a:ext cx="3281706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parsed from raw XML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3496826" y="3303049"/>
            <a:ext cx="3838749" cy="2565597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3924515" y="3768916"/>
            <a:ext cx="3281706" cy="83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126" kern="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542,281</a:t>
            </a:r>
            <a:endParaRPr lang="en-US" sz="6300" dirty="0"/>
          </a:p>
        </p:txBody>
      </p:sp>
      <p:sp>
        <p:nvSpPr>
          <p:cNvPr id="18" name="Text 16"/>
          <p:cNvSpPr/>
          <p:nvPr/>
        </p:nvSpPr>
        <p:spPr>
          <a:xfrm>
            <a:off x="13924515" y="4702280"/>
            <a:ext cx="3281706" cy="40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lineup rows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924515" y="5124536"/>
            <a:ext cx="3281706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11+11 per match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952385" y="6561400"/>
            <a:ext cx="899245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048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927730" y="6535315"/>
            <a:ext cx="5040379" cy="37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single 300-MB monolithic SQLite file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392733" y="6561400"/>
            <a:ext cx="1357875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048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779465" y="6535315"/>
            <a:ext cx="6843463" cy="37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Match table: 115 columns, XML-encoded events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52385" y="9633214"/>
            <a:ext cx="632952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DM 2025/26 · D'Angelica &amp; Leone · PostgreSQL vs Neo4j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6575568" y="9633214"/>
            <a:ext cx="836206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16</a:t>
            </a:r>
            <a:endParaRPr lang="en-US" sz="14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57146"/>
            <a:ext cx="18021508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POSTGRESQL DESIGN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385" y="1306710"/>
            <a:ext cx="15697119" cy="1272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spc="-67" kern="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115 columns to 4 tables: the normalisation that makes the comparison fair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385" y="3209544"/>
            <a:ext cx="5138928" cy="4206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52385" y="7406640"/>
            <a:ext cx="5138928" cy="9525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85" y="3209544"/>
            <a:ext cx="5138928" cy="52171"/>
          </a:xfrm>
          <a:prstGeom prst="rect">
            <a:avLst/>
          </a:prstGeom>
          <a:solidFill>
            <a:srgbClr val="B0483A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2385" y="3209544"/>
            <a:ext cx="9525" cy="4206240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80760" y="3209544"/>
            <a:ext cx="9525" cy="4206240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456293" y="3675887"/>
            <a:ext cx="4663440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B048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BEFORE — SOURCE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456293" y="4343400"/>
            <a:ext cx="4663440" cy="6857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0" b="1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115 columns</a:t>
            </a:r>
            <a:endParaRPr lang="en-US" sz="5100" dirty="0"/>
          </a:p>
        </p:txBody>
      </p:sp>
      <p:sp>
        <p:nvSpPr>
          <p:cNvPr id="11" name="Text 9"/>
          <p:cNvSpPr/>
          <p:nvPr/>
        </p:nvSpPr>
        <p:spPr>
          <a:xfrm>
            <a:off x="1456293" y="5349240"/>
            <a:ext cx="43434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50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22 player ids + 44 pitch coordinates · 8 raw XML fields · 30 betting odds · 11 base fields — all in one Match table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6144768" y="4892040"/>
            <a:ext cx="1219197" cy="81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800" dirty="0">
                <a:solidFill>
                  <a:srgbClr val="9A93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7360920" y="3207811"/>
            <a:ext cx="5074920" cy="42062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360920" y="7406640"/>
            <a:ext cx="5074920" cy="9525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360920" y="3207811"/>
            <a:ext cx="5074920" cy="52171"/>
          </a:xfrm>
          <a:prstGeom prst="rect">
            <a:avLst/>
          </a:prstGeom>
          <a:solidFill>
            <a:srgbClr val="1E7A5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360920" y="3207811"/>
            <a:ext cx="9525" cy="4206240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2426696" y="3207811"/>
            <a:ext cx="9525" cy="4206240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818120" y="3678976"/>
            <a:ext cx="4572000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AFTER — NORMALISED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818120" y="4370832"/>
            <a:ext cx="2377440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match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195560" y="4379976"/>
            <a:ext cx="2194560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25,979 rows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818120" y="5029200"/>
            <a:ext cx="2377440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match_lineup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195560" y="5038344"/>
            <a:ext cx="2194560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542,281 rows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818120" y="5687568"/>
            <a:ext cx="2377440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match_event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195560" y="5696712"/>
            <a:ext cx="2194560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917,815 rows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818120" y="6345936"/>
            <a:ext cx="2377440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match_odds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195560" y="6355080"/>
            <a:ext cx="2194560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9A93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 of scope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50976" y="8275320"/>
            <a:ext cx="5257800" cy="863803"/>
          </a:xfrm>
          <a:prstGeom prst="rect">
            <a:avLst/>
          </a:prstGeom>
          <a:solidFill>
            <a:srgbClr val="EDE9E1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298448" y="8540496"/>
            <a:ext cx="4727448" cy="368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3360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</a:t>
            </a:r>
            <a:pPr algn="l" indent="0" marL="0">
              <a:buNone/>
            </a:pPr>
            <a:r>
              <a:rPr lang="en-US" sz="2025" dirty="0">
                <a:solidFill>
                  <a:srgbClr val="1A2430"/>
                </a:solidFill>
                <a:highlight>
                  <a:srgbClr val="EDE9E1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Readable SQL</a:t>
            </a:r>
            <a:endParaRPr lang="en-US" sz="2025" dirty="0"/>
          </a:p>
        </p:txBody>
      </p:sp>
      <p:sp>
        <p:nvSpPr>
          <p:cNvPr id="29" name="Shape 27"/>
          <p:cNvSpPr/>
          <p:nvPr/>
        </p:nvSpPr>
        <p:spPr>
          <a:xfrm>
            <a:off x="6515100" y="8275320"/>
            <a:ext cx="5257800" cy="863803"/>
          </a:xfrm>
          <a:prstGeom prst="rect">
            <a:avLst/>
          </a:prstGeom>
          <a:solidFill>
            <a:srgbClr val="EDE9E1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862572" y="8540496"/>
            <a:ext cx="4727448" cy="368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3360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 </a:t>
            </a:r>
            <a:pPr algn="l" indent="0" marL="0">
              <a:buNone/>
            </a:pPr>
            <a:r>
              <a:rPr lang="en-US" sz="2025" dirty="0">
                <a:solidFill>
                  <a:srgbClr val="1A2430"/>
                </a:solidFill>
                <a:highlight>
                  <a:srgbClr val="EDE9E1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Events become indexable rows</a:t>
            </a:r>
            <a:endParaRPr lang="en-US" sz="2025" dirty="0"/>
          </a:p>
        </p:txBody>
      </p:sp>
      <p:sp>
        <p:nvSpPr>
          <p:cNvPr id="31" name="Shape 29"/>
          <p:cNvSpPr/>
          <p:nvPr/>
        </p:nvSpPr>
        <p:spPr>
          <a:xfrm>
            <a:off x="12079224" y="8275320"/>
            <a:ext cx="5257800" cy="863803"/>
          </a:xfrm>
          <a:prstGeom prst="rect">
            <a:avLst/>
          </a:prstGeom>
          <a:solidFill>
            <a:srgbClr val="EDE9E1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2426696" y="8540496"/>
            <a:ext cx="4727448" cy="3685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3360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 </a:t>
            </a:r>
            <a:pPr algn="l" indent="0" marL="0">
              <a:buNone/>
            </a:pPr>
            <a:r>
              <a:rPr lang="en-US" sz="2025" dirty="0">
                <a:solidFill>
                  <a:srgbClr val="1A2430"/>
                </a:solidFill>
                <a:highlight>
                  <a:srgbClr val="EDE9E1"/>
                </a:highlight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Symmetry with the graph model</a:t>
            </a:r>
            <a:endParaRPr lang="en-US" sz="2025" dirty="0"/>
          </a:p>
        </p:txBody>
      </p:sp>
      <p:sp>
        <p:nvSpPr>
          <p:cNvPr id="33" name="Text 31"/>
          <p:cNvSpPr/>
          <p:nvPr/>
        </p:nvSpPr>
        <p:spPr>
          <a:xfrm>
            <a:off x="952385" y="9633214"/>
            <a:ext cx="632952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DM 2025/26 · D'Angelica &amp; Leone · PostgreSQL vs Neo4j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16575568" y="9633214"/>
            <a:ext cx="836206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16</a:t>
            </a:r>
            <a:endParaRPr lang="en-US" sz="1425" dirty="0"/>
          </a:p>
        </p:txBody>
      </p:sp>
      <p:pic>
        <p:nvPicPr>
          <p:cNvPr id="35" name="Picture 34" descr="schema_ER_mermaid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0" y="3209544"/>
            <a:ext cx="4626864" cy="4626864"/>
          </a:xfrm>
          <a:prstGeom prst="rect">
            <a:avLst/>
          </a:prstGeom>
        </p:spPr>
      </p:pic>
      <p:sp>
        <p:nvSpPr>
          <p:cNvPr id="1000" name="Text 16"/>
          <p:cNvSpPr/>
          <p:nvPr/>
        </p:nvSpPr>
        <p:spPr>
          <a:xfrm>
            <a:off x="12710160" y="7882127"/>
            <a:ext cx="462686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50" spc="198" kern="0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Conceptual ER — shared by both designs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57146"/>
            <a:ext cx="18021508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NEO4J DESIGN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385" y="1306710"/>
            <a:ext cx="15304735" cy="1272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spc="-67" kern="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 the graph, events become relationships: zero joins to navigate them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385" y="3398288"/>
            <a:ext cx="9620580" cy="1313367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42034" y="3711719"/>
            <a:ext cx="9725409" cy="325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(Player)-[:SCORED_IN]-&gt;(Match)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1342034" y="4093895"/>
            <a:ext cx="9725409" cy="34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parsed event is a typed, directed relationship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52385" y="4978350"/>
            <a:ext cx="9620580" cy="1617695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42034" y="5291780"/>
            <a:ext cx="9725409" cy="325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(Player)-[:PLAYED_FOR]-&gt;(Team)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342034" y="5673957"/>
            <a:ext cx="9106520" cy="646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Derived at load time — the edge that powers teammates &amp; shortest-path queries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52385" y="6862740"/>
            <a:ext cx="9620580" cy="1313367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42034" y="7176171"/>
            <a:ext cx="9725409" cy="325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(Match)-[:HOME|AWAY]-&gt;(Team)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1342034" y="7558347"/>
            <a:ext cx="9725409" cy="34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Structure (league, country, sides) mirrors the relational FKs 1:1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1239634" y="3112572"/>
            <a:ext cx="6095941" cy="6154226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-25081" r="-25081" t="0" b="0"/>
          <a:stretch/>
        </p:blipFill>
        <p:spPr>
          <a:xfrm>
            <a:off x="11438805" y="3311744"/>
            <a:ext cx="5697597" cy="51911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353341" y="8598090"/>
            <a:ext cx="5868525" cy="5076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Actual Neo4j schema visualisation — CALL db.schema.visualization()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952385" y="9633214"/>
            <a:ext cx="632952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DM 2025/26 · D'Angelica &amp; Leone · PostgreSQL vs Neo4j</a:t>
            </a:r>
            <a:endParaRPr lang="en-US" sz="1425" dirty="0"/>
          </a:p>
        </p:txBody>
      </p:sp>
      <p:sp>
        <p:nvSpPr>
          <p:cNvPr id="17" name="Text 14"/>
          <p:cNvSpPr/>
          <p:nvPr/>
        </p:nvSpPr>
        <p:spPr>
          <a:xfrm>
            <a:off x="16575568" y="9633214"/>
            <a:ext cx="836206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16</a:t>
            </a:r>
            <a:endParaRPr lang="en-US" sz="14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57146"/>
            <a:ext cx="18021508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ETL PIPELINE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385" y="1306710"/>
            <a:ext cx="15697119" cy="1272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spc="-67" kern="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reproducible pipeline: SQLite to both databases in ~7 minutes, zero orphan FKs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385" y="3398288"/>
            <a:ext cx="2971821" cy="2438974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246795" y="3749760"/>
            <a:ext cx="2621299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1246795" y="4105851"/>
            <a:ext cx="2621299" cy="40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Extract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46795" y="4566283"/>
            <a:ext cx="2459199" cy="6511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 all tables from database.sqlite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3886105" y="3398288"/>
            <a:ext cx="457154" cy="2477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9A93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›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305159" y="3398288"/>
            <a:ext cx="2971821" cy="2438974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99570" y="3749760"/>
            <a:ext cx="2621299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4599570" y="4105851"/>
            <a:ext cx="2621299" cy="40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Transform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599570" y="4566283"/>
            <a:ext cx="2459199" cy="9576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Parse XML events, explode lineup, fix orphan FKs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7238880" y="3398288"/>
            <a:ext cx="457154" cy="2477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9A93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›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657933" y="3398288"/>
            <a:ext cx="2971956" cy="2438974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952344" y="3749760"/>
            <a:ext cx="2621449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7952344" y="4105851"/>
            <a:ext cx="2621449" cy="40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Clean CSVs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952344" y="4566283"/>
            <a:ext cx="2459335" cy="9576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 files in clean/ — one source of truth for both DBs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10591790" y="3398288"/>
            <a:ext cx="457154" cy="2477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9A93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›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1010843" y="3398288"/>
            <a:ext cx="2971821" cy="243897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1010843" y="5828567"/>
            <a:ext cx="2971821" cy="9525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1010843" y="3398288"/>
            <a:ext cx="2971821" cy="52171"/>
          </a:xfrm>
          <a:prstGeom prst="rect">
            <a:avLst/>
          </a:prstGeom>
          <a:solidFill>
            <a:srgbClr val="33608F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1010843" y="3398288"/>
            <a:ext cx="9525" cy="2438974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3973969" y="3398288"/>
            <a:ext cx="9525" cy="2438974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1305254" y="3793235"/>
            <a:ext cx="2621299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11305254" y="4149327"/>
            <a:ext cx="2621299" cy="40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Load Postgres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1305254" y="4609759"/>
            <a:ext cx="2621299" cy="344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DDL + COPY bulk insert</a:t>
            </a:r>
            <a:endParaRPr lang="en-US" sz="1725" dirty="0"/>
          </a:p>
        </p:txBody>
      </p:sp>
      <p:sp>
        <p:nvSpPr>
          <p:cNvPr id="27" name="Text 25"/>
          <p:cNvSpPr/>
          <p:nvPr/>
        </p:nvSpPr>
        <p:spPr>
          <a:xfrm>
            <a:off x="13944564" y="3398288"/>
            <a:ext cx="457154" cy="2477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9A93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›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4363617" y="3398288"/>
            <a:ext cx="2971956" cy="243897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4363617" y="5828567"/>
            <a:ext cx="2971956" cy="9525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4363617" y="3398288"/>
            <a:ext cx="2971956" cy="52171"/>
          </a:xfrm>
          <a:prstGeom prst="rect">
            <a:avLst/>
          </a:prstGeom>
          <a:solidFill>
            <a:srgbClr val="1E7A52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4363617" y="3398288"/>
            <a:ext cx="9525" cy="2438974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7326879" y="3398288"/>
            <a:ext cx="9525" cy="2438974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4658029" y="3793235"/>
            <a:ext cx="2621449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14658029" y="4149327"/>
            <a:ext cx="2621449" cy="40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Load Neo4j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14658029" y="4609759"/>
            <a:ext cx="2459335" cy="6511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725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LOAD CSV + derive PLAYED_FOR</a:t>
            </a:r>
            <a:endParaRPr lang="en-US" sz="1725" dirty="0"/>
          </a:p>
        </p:txBody>
      </p:sp>
      <p:sp>
        <p:nvSpPr>
          <p:cNvPr id="36" name="Shape 34"/>
          <p:cNvSpPr/>
          <p:nvPr/>
        </p:nvSpPr>
        <p:spPr>
          <a:xfrm>
            <a:off x="952385" y="6694408"/>
            <a:ext cx="5232545" cy="1812656"/>
          </a:xfrm>
          <a:prstGeom prst="rect">
            <a:avLst/>
          </a:prstGeom>
          <a:solidFill>
            <a:srgbClr val="16202C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371380" y="7018165"/>
            <a:ext cx="1221915" cy="620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FC79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100%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2707571" y="7235542"/>
            <a:ext cx="3150115" cy="646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C8C2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FK integrity — zero orphans across 542k+ refs</a:t>
            </a:r>
            <a:endParaRPr lang="en-US" sz="1875" dirty="0"/>
          </a:p>
        </p:txBody>
      </p:sp>
      <p:sp>
        <p:nvSpPr>
          <p:cNvPr id="39" name="Shape 37"/>
          <p:cNvSpPr/>
          <p:nvPr/>
        </p:nvSpPr>
        <p:spPr>
          <a:xfrm>
            <a:off x="6527707" y="6694408"/>
            <a:ext cx="5232545" cy="1812656"/>
          </a:xfrm>
          <a:prstGeom prst="rect">
            <a:avLst/>
          </a:prstGeom>
          <a:solidFill>
            <a:srgbClr val="16202C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946702" y="7018165"/>
            <a:ext cx="1761232" cy="620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FC79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917,815</a:t>
            </a:r>
            <a:endParaRPr lang="en-US" sz="3600" dirty="0"/>
          </a:p>
        </p:txBody>
      </p:sp>
      <p:sp>
        <p:nvSpPr>
          <p:cNvPr id="41" name="Text 39"/>
          <p:cNvSpPr/>
          <p:nvPr/>
        </p:nvSpPr>
        <p:spPr>
          <a:xfrm>
            <a:off x="8738299" y="7235542"/>
            <a:ext cx="2681047" cy="646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C8C2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typed rows from XML (14,196 matches)</a:t>
            </a:r>
            <a:endParaRPr lang="en-US" sz="1875" dirty="0"/>
          </a:p>
        </p:txBody>
      </p:sp>
      <p:sp>
        <p:nvSpPr>
          <p:cNvPr id="42" name="Shape 40"/>
          <p:cNvSpPr/>
          <p:nvPr/>
        </p:nvSpPr>
        <p:spPr>
          <a:xfrm>
            <a:off x="12103029" y="6694408"/>
            <a:ext cx="5232545" cy="1812656"/>
          </a:xfrm>
          <a:prstGeom prst="rect">
            <a:avLst/>
          </a:prstGeom>
          <a:solidFill>
            <a:srgbClr val="16202C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2522024" y="7018165"/>
            <a:ext cx="1288351" cy="1203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FC79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~7 min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13924651" y="7235542"/>
            <a:ext cx="3081686" cy="6467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C8C2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pipeline re-run, end-to-end</a:t>
            </a:r>
            <a:endParaRPr lang="en-US" sz="1875" dirty="0"/>
          </a:p>
        </p:txBody>
      </p:sp>
      <p:sp>
        <p:nvSpPr>
          <p:cNvPr id="45" name="Text 43"/>
          <p:cNvSpPr/>
          <p:nvPr/>
        </p:nvSpPr>
        <p:spPr>
          <a:xfrm>
            <a:off x="952385" y="9633214"/>
            <a:ext cx="632952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DM 2025/26 · D'Angelica &amp; Leone · PostgreSQL vs Neo4j</a:t>
            </a:r>
            <a:endParaRPr lang="en-US" sz="1425" dirty="0"/>
          </a:p>
        </p:txBody>
      </p:sp>
      <p:sp>
        <p:nvSpPr>
          <p:cNvPr id="46" name="Text 44"/>
          <p:cNvSpPr/>
          <p:nvPr/>
        </p:nvSpPr>
        <p:spPr>
          <a:xfrm>
            <a:off x="16575568" y="9633214"/>
            <a:ext cx="836206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16</a:t>
            </a:r>
            <a:endParaRPr lang="en-US" sz="14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57146"/>
            <a:ext cx="18021508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EXPERIMENTAL SETUP &amp; METHODOLOGY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385" y="1306710"/>
            <a:ext cx="16187736" cy="1272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spc="-67" kern="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Rigorous by design: 15 runs, bootstrap CIs, significance tests — and results verified equivalent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385" y="3112572"/>
            <a:ext cx="8020138" cy="2640184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99095" y="3483201"/>
            <a:ext cx="7839389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89" kern="0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ENVIRONMENT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1399095" y="3896354"/>
            <a:ext cx="7340519" cy="15238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MacBook Air M2 · 8 GB RAM · SSD — single-user, in-memory dataset. </a:t>
            </a:r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PostgreSQL 18.6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(default config) · </a:t>
            </a:r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Neo4j 2026.04.0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Enterprise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315300" y="3112572"/>
            <a:ext cx="8020274" cy="2640184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762010" y="3483201"/>
            <a:ext cx="7839539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89" kern="0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STATISTICS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9762010" y="3934530"/>
            <a:ext cx="1446918" cy="419131"/>
          </a:xfrm>
          <a:prstGeom prst="rect">
            <a:avLst/>
          </a:prstGeom>
          <a:solidFill>
            <a:srgbClr val="EDE9E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914410" y="4029780"/>
            <a:ext cx="1218318" cy="26673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warm-up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342208" y="3996211"/>
            <a:ext cx="304854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3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704141" y="3934530"/>
            <a:ext cx="1088925" cy="419131"/>
          </a:xfrm>
          <a:prstGeom prst="rect">
            <a:avLst/>
          </a:prstGeom>
          <a:solidFill>
            <a:srgbClr val="EDE9E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1856541" y="4029780"/>
            <a:ext cx="860325" cy="26673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 runs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926346" y="3996211"/>
            <a:ext cx="304854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3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288280" y="3934530"/>
            <a:ext cx="2085736" cy="419131"/>
          </a:xfrm>
          <a:prstGeom prst="rect">
            <a:avLst/>
          </a:prstGeom>
          <a:solidFill>
            <a:srgbClr val="EDE9E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3440680" y="4029780"/>
            <a:ext cx="1857136" cy="26673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median + 95% CI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07294" y="3996211"/>
            <a:ext cx="304854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938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762010" y="4486941"/>
            <a:ext cx="2147417" cy="419131"/>
          </a:xfrm>
          <a:prstGeom prst="rect">
            <a:avLst/>
          </a:prstGeom>
          <a:solidFill>
            <a:srgbClr val="EDE9E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914410" y="4582191"/>
            <a:ext cx="1918817" cy="26673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Mann-Whitney U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2385" y="6095533"/>
            <a:ext cx="8020138" cy="2312216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399095" y="6466162"/>
            <a:ext cx="7839389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89" kern="0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RESULT EQUIVALENCE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1399095" y="6879315"/>
            <a:ext cx="7340519" cy="11524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Both result-sets normalised (rounding, dates, decimals) and compared as multisets.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All 10 read queries: identical answers.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315300" y="6095533"/>
            <a:ext cx="8020274" cy="23122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315300" y="8399054"/>
            <a:ext cx="8020274" cy="9525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315300" y="6095533"/>
            <a:ext cx="8020274" cy="52171"/>
          </a:xfrm>
          <a:prstGeom prst="rect">
            <a:avLst/>
          </a:prstGeom>
          <a:solidFill>
            <a:srgbClr val="1E7A52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315300" y="6095533"/>
            <a:ext cx="9525" cy="2312216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7326879" y="6095533"/>
            <a:ext cx="9525" cy="2312216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762010" y="6509638"/>
            <a:ext cx="7839539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89" kern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FAIRNESS CHOICE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9762010" y="6922790"/>
            <a:ext cx="7340659" cy="11524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Postgres precomputes </a:t>
            </a:r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mv_played_for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 mirror Neo4j's </a:t>
            </a:r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PLAYED_FOR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edge —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neither system gets a structural advantage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 Q09–Q10.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952385" y="9633214"/>
            <a:ext cx="632952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DM 2025/26 · D'Angelica &amp; Leone · PostgreSQL vs Neo4j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16575568" y="9633214"/>
            <a:ext cx="836206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16</a:t>
            </a:r>
            <a:endParaRPr lang="en-US" sz="14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57146"/>
            <a:ext cx="18021508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BENCHMARK DESIGN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385" y="1306710"/>
            <a:ext cx="16187736" cy="1272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spc="-67" kern="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 queries of increasing graph-friendliness — with hypotheses declared before measuring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385" y="3112572"/>
            <a:ext cx="16383190" cy="1159437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1080" y="3121267"/>
            <a:ext cx="857146" cy="1142046"/>
          </a:xfrm>
          <a:prstGeom prst="rect">
            <a:avLst/>
          </a:prstGeom>
          <a:solidFill>
            <a:srgbClr val="33608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22980" y="3121267"/>
            <a:ext cx="933346" cy="1180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2103976" y="3387967"/>
            <a:ext cx="1314367" cy="646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Q01–Q04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3913643" y="3387967"/>
            <a:ext cx="9418020" cy="646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Aggregations &amp; 2–3 way joins — top scorers, standings, win %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3326456" y="3121267"/>
            <a:ext cx="9525" cy="1142046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3620901" y="3387967"/>
            <a:ext cx="3540241" cy="646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3360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Hypothesis: Postgres wins or ties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52385" y="4462486"/>
            <a:ext cx="16383190" cy="1159437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61080" y="4471181"/>
            <a:ext cx="857146" cy="1142046"/>
          </a:xfrm>
          <a:prstGeom prst="rect">
            <a:avLst/>
          </a:prstGeom>
          <a:solidFill>
            <a:srgbClr val="4B7A7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22980" y="4471181"/>
            <a:ext cx="933346" cy="1180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2103976" y="4737881"/>
            <a:ext cx="1314367" cy="646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Q05–Q07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3913643" y="4737881"/>
            <a:ext cx="9418020" cy="646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Multi-hop joins, self-joins, presence-in-all-of (8 seasons)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3326456" y="4471181"/>
            <a:ext cx="9525" cy="1142046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3620901" y="4737881"/>
            <a:ext cx="3540241" cy="646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4B7A7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Hypothesis: slight Neo4j edge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52385" y="5812399"/>
            <a:ext cx="16383190" cy="1159437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1080" y="5821095"/>
            <a:ext cx="857146" cy="1142046"/>
          </a:xfrm>
          <a:prstGeom prst="rect">
            <a:avLst/>
          </a:prstGeom>
          <a:solidFill>
            <a:srgbClr val="1E7A5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22980" y="5821095"/>
            <a:ext cx="933346" cy="1180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2103976" y="6087795"/>
            <a:ext cx="1314367" cy="646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Q08–Q10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3913643" y="6087795"/>
            <a:ext cx="9418020" cy="646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Network traversal — teammates, 2-hop, shortest path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3326456" y="5821095"/>
            <a:ext cx="9525" cy="1142046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3620901" y="6087795"/>
            <a:ext cx="3540241" cy="646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E7A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Hypothesis: Neo4j wins clearly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952385" y="7162313"/>
            <a:ext cx="16383190" cy="1159437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61080" y="7171008"/>
            <a:ext cx="857146" cy="1142046"/>
          </a:xfrm>
          <a:prstGeom prst="rect">
            <a:avLst/>
          </a:prstGeom>
          <a:solidFill>
            <a:srgbClr val="6B655C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22980" y="7171008"/>
            <a:ext cx="933346" cy="1180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</a:t>
            </a:r>
            <a:endParaRPr lang="en-US" sz="3150" dirty="0"/>
          </a:p>
        </p:txBody>
      </p:sp>
      <p:sp>
        <p:nvSpPr>
          <p:cNvPr id="28" name="Text 26"/>
          <p:cNvSpPr/>
          <p:nvPr/>
        </p:nvSpPr>
        <p:spPr>
          <a:xfrm>
            <a:off x="2103976" y="7437708"/>
            <a:ext cx="1314367" cy="646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Q11–Q12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3913643" y="7437708"/>
            <a:ext cx="9418020" cy="646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Writes — bulk UPDATE, schema evolution (new attribute)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3326456" y="7171008"/>
            <a:ext cx="9525" cy="1142046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3620901" y="7437708"/>
            <a:ext cx="3540241" cy="646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Comparing paradigms, not speed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952385" y="8740744"/>
            <a:ext cx="18021508" cy="34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query written twice — same logic in SQL and Cypher, parameterised · </a:t>
            </a:r>
            <a:pPr algn="l" indent="0" marL="0">
              <a:buNone/>
            </a:pPr>
            <a:r>
              <a:rPr lang="en-US" sz="1650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queries/sql/Q01..Q12.sql · queries/cypher/Q01..Q12.cypher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952385" y="9633214"/>
            <a:ext cx="632952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DM 2025/26 · D'Angelica &amp; Leone · PostgreSQL vs Neo4j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16575568" y="9633214"/>
            <a:ext cx="836206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16</a:t>
            </a:r>
            <a:endParaRPr lang="en-US" sz="14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761908"/>
            <a:ext cx="18021508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RESULTS — 12 QUERIES, LOG SCALE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385" y="1192451"/>
            <a:ext cx="16678214" cy="1231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spc="-65" kern="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Category A is a dead heat across runs; Postgres wins the fixed-depth join, Neo4j every variable-depth traversal and every write</a:t>
            </a:r>
            <a:endParaRPr lang="en-US" sz="4350" dirty="0"/>
          </a:p>
        </p:txBody>
      </p:sp>
      <p:sp>
        <p:nvSpPr>
          <p:cNvPr id="69" name="Text 67"/>
          <p:cNvSpPr/>
          <p:nvPr/>
        </p:nvSpPr>
        <p:spPr>
          <a:xfrm>
            <a:off x="952385" y="8732520"/>
            <a:ext cx="2341086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Postgres wins (2)</a:t>
            </a:r>
            <a:endParaRPr lang="en-US" sz="1725" dirty="0"/>
          </a:p>
        </p:txBody>
      </p:sp>
      <p:sp>
        <p:nvSpPr>
          <p:cNvPr id="70" name="Text 68"/>
          <p:cNvSpPr/>
          <p:nvPr/>
        </p:nvSpPr>
        <p:spPr>
          <a:xfrm>
            <a:off x="3556837" y="8732520"/>
            <a:ext cx="4023360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Neo4j wins (8) · not significant (2)</a:t>
            </a:r>
            <a:endParaRPr lang="en-US" sz="1725" dirty="0"/>
          </a:p>
        </p:txBody>
      </p:sp>
      <p:sp>
        <p:nvSpPr>
          <p:cNvPr id="71" name="Text 69"/>
          <p:cNvSpPr/>
          <p:nvPr/>
        </p:nvSpPr>
        <p:spPr>
          <a:xfrm>
            <a:off x="7680960" y="8741664"/>
            <a:ext cx="9601200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saturated bars = significant after Holm correction (10/12) · Mann-Whitney U, p &lt; 0.05 · all results equivalent (multiset)</a:t>
            </a:r>
            <a:endParaRPr lang="en-US" sz="1575" dirty="0"/>
          </a:p>
        </p:txBody>
      </p:sp>
      <p:sp>
        <p:nvSpPr>
          <p:cNvPr id="72" name="Text 70"/>
          <p:cNvSpPr/>
          <p:nvPr/>
        </p:nvSpPr>
        <p:spPr>
          <a:xfrm>
            <a:off x="952385" y="9633214"/>
            <a:ext cx="632952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DM 2025/26 · D'Angelica &amp; Leone · PostgreSQL vs Neo4j</a:t>
            </a:r>
            <a:endParaRPr lang="en-US" sz="1425" dirty="0"/>
          </a:p>
        </p:txBody>
      </p:sp>
      <p:sp>
        <p:nvSpPr>
          <p:cNvPr id="73" name="Text 71"/>
          <p:cNvSpPr/>
          <p:nvPr/>
        </p:nvSpPr>
        <p:spPr>
          <a:xfrm>
            <a:off x="16575568" y="9633214"/>
            <a:ext cx="836206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16</a:t>
            </a:r>
            <a:endParaRPr lang="en-US" sz="1425" dirty="0"/>
          </a:p>
        </p:txBody>
      </p:sp>
      <p:pic>
        <p:nvPicPr>
          <p:cNvPr id="74" name="Picture 73" descr="resul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2697480"/>
            <a:ext cx="16386048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12516" y="1569736"/>
            <a:ext cx="6669220" cy="333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6FA0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Q10 — SHORTEST PATH, MESSI → PIRLO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814030" y="1960608"/>
            <a:ext cx="7325740" cy="384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0" b="1" spc="-900" kern="0" dirty="0">
                <a:solidFill>
                  <a:srgbClr val="6FC79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55×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1941452" y="5961031"/>
            <a:ext cx="15845412" cy="6032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C8C2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faster on Neo4j — a change of complexity class, not an optimisation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1463040" y="7192882"/>
            <a:ext cx="2626829" cy="359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7FA8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POSTGRES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63040" y="7590682"/>
            <a:ext cx="2626829" cy="829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EFE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792 ms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463040" y="8438998"/>
            <a:ext cx="2626829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B96A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recursive CTE (BFS)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846320" y="7192882"/>
            <a:ext cx="3179783" cy="359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6FC7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NEO4J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846320" y="7590682"/>
            <a:ext cx="3179783" cy="829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EFE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ms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846320" y="8438998"/>
            <a:ext cx="3179783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B96A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SHORTEST 1 path pattern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52385" y="9633214"/>
            <a:ext cx="632952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E6B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DM 2025/26 · D'Angelica &amp; Leone · PostgreSQL vs Neo4j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6575568" y="9633214"/>
            <a:ext cx="836206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5E6B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16</a:t>
            </a:r>
            <a:endParaRPr lang="en-US" sz="1425" dirty="0"/>
          </a:p>
        </p:txBody>
      </p:sp>
      <p:pic>
        <p:nvPicPr>
          <p:cNvPr id="13" name="Picture 12" descr="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6675120"/>
            <a:ext cx="8558784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761908"/>
            <a:ext cx="18021508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Q10 — SAME QUESTION, TWO LANGUAGES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385" y="1192451"/>
            <a:ext cx="18021508" cy="634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spc="-65" kern="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21 lines of SQL vs 5 of Cypher — same answer, same semantics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385" y="2208011"/>
            <a:ext cx="6477167" cy="6295909"/>
          </a:xfrm>
          <a:prstGeom prst="rect">
            <a:avLst/>
          </a:prstGeom>
          <a:solidFill>
            <a:srgbClr val="16202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33339" y="2531767"/>
            <a:ext cx="6286785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58" kern="0" dirty="0">
                <a:solidFill>
                  <a:srgbClr val="7FA8D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POSTGRESQL — RECURSIVE CTE (BFS)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1333339" y="2963941"/>
            <a:ext cx="5886716" cy="553997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1388" dirty="0">
                <a:solidFill>
                  <a:srgbClr val="B8C4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WITH RECURSIVE bfs (player_api_id, distance) AS (</a:t>
            </a:r>
            <a:endParaRPr lang="en-US" sz="1388" dirty="0"/>
          </a:p>
          <a:p>
            <a:r>
              <a:rPr sz="1388">
                <a:solidFill>
                  <a:srgbClr val="B8C4D2"/>
                </a:solidFill>
                <a:latin typeface="IBM Plex Mono"/>
              </a:rPr>
              <a:t>    SELECT src, 0 FROM endpoints</a:t>
            </a:r>
          </a:p>
          <a:p>
            <a:r>
              <a:rPr sz="1388">
                <a:solidFill>
                  <a:srgbClr val="B8C4D2"/>
                </a:solidFill>
                <a:latin typeface="IBM Plex Mono"/>
              </a:rPr>
              <a:t>    UNION</a:t>
            </a:r>
          </a:p>
          <a:p>
            <a:r>
              <a:rPr sz="1388">
                <a:solidFill>
                  <a:srgbClr val="B8C4D2"/>
                </a:solidFill>
                <a:latin typeface="IBM Plex Mono"/>
              </a:rPr>
              <a:t>    SELECT pf2.player_api_id, b.distance + 1</a:t>
            </a:r>
          </a:p>
          <a:p>
            <a:r>
              <a:rPr sz="1388">
                <a:solidFill>
                  <a:srgbClr val="B8C4D2"/>
                </a:solidFill>
                <a:latin typeface="IBM Plex Mono"/>
              </a:rPr>
              <a:t>    FROM   bfs b</a:t>
            </a:r>
          </a:p>
          <a:p>
            <a:r>
              <a:rPr sz="1388">
                <a:solidFill>
                  <a:srgbClr val="B8C4D2"/>
                </a:solidFill>
                <a:latin typeface="IBM Plex Mono"/>
              </a:rPr>
              <a:t>    JOIN   soccer.mv_played_for pf1</a:t>
            </a:r>
          </a:p>
          <a:p>
            <a:r>
              <a:rPr sz="1388">
                <a:solidFill>
                  <a:srgbClr val="B8C4D2"/>
                </a:solidFill>
                <a:latin typeface="IBM Plex Mono"/>
              </a:rPr>
              <a:t>           ON pf1.player_api_id = b.player_api_id</a:t>
            </a:r>
          </a:p>
          <a:p>
            <a:r>
              <a:rPr sz="1388">
                <a:solidFill>
                  <a:srgbClr val="B8C4D2"/>
                </a:solidFill>
                <a:latin typeface="IBM Plex Mono"/>
              </a:rPr>
              <a:t>    JOIN   soccer.mv_played_for pf2</a:t>
            </a:r>
          </a:p>
          <a:p>
            <a:r>
              <a:rPr sz="1388">
                <a:solidFill>
                  <a:srgbClr val="B8C4D2"/>
                </a:solidFill>
                <a:latin typeface="IBM Plex Mono"/>
              </a:rPr>
              <a:t>           ON pf2.team_api_id = pf1.team_api_id</a:t>
            </a:r>
          </a:p>
          <a:p>
            <a:r>
              <a:rPr sz="1388">
                <a:solidFill>
                  <a:srgbClr val="B8C4D2"/>
                </a:solidFill>
                <a:latin typeface="IBM Plex Mono"/>
              </a:rPr>
              <a:t>          AND pf2.season      = pf1.season</a:t>
            </a:r>
          </a:p>
          <a:p>
            <a:r>
              <a:rPr sz="1388">
                <a:solidFill>
                  <a:srgbClr val="B8C4D2"/>
                </a:solidFill>
                <a:latin typeface="IBM Plex Mono"/>
              </a:rPr>
              <a:t>          AND pf2.player_api_id &lt;&gt; b.player_api_id</a:t>
            </a:r>
          </a:p>
          <a:p>
            <a:r>
              <a:rPr sz="1388">
                <a:solidFill>
                  <a:srgbClr val="B8C4D2"/>
                </a:solidFill>
                <a:latin typeface="IBM Plex Mono"/>
              </a:rPr>
              <a:t>    WHERE  b.distance &lt; 6</a:t>
            </a:r>
          </a:p>
          <a:p>
            <a:r>
              <a:rPr sz="1388">
                <a:solidFill>
                  <a:srgbClr val="B8C4D2"/>
                </a:solidFill>
                <a:latin typeface="IBM Plex Mono"/>
              </a:rPr>
              <a:t>)</a:t>
            </a:r>
          </a:p>
          <a:p>
            <a:r>
              <a:rPr sz="1388">
                <a:solidFill>
                  <a:srgbClr val="B8C4D2"/>
                </a:solidFill>
                <a:latin typeface="IBM Plex Mono"/>
              </a:rPr>
              <a:t>SELECT MIN(distance) FROM bfs</a:t>
            </a:r>
          </a:p>
          <a:p>
            <a:r>
              <a:rPr sz="1388">
                <a:solidFill>
                  <a:srgbClr val="B8C4D2"/>
                </a:solidFill>
                <a:latin typeface="IBM Plex Mono"/>
              </a:rPr>
              <a:t>WHERE  player_api_id = dst;</a:t>
            </a:r>
          </a:p>
        </p:txBody>
      </p:sp>
      <p:sp>
        <p:nvSpPr>
          <p:cNvPr id="7" name="Text 5"/>
          <p:cNvSpPr/>
          <p:nvPr/>
        </p:nvSpPr>
        <p:spPr>
          <a:xfrm>
            <a:off x="7677158" y="3763618"/>
            <a:ext cx="2933644" cy="751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350" b="1" dirty="0">
                <a:solidFill>
                  <a:srgbClr val="1E7A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21 → 5</a:t>
            </a:r>
            <a:endParaRPr lang="en-US" sz="4350" dirty="0"/>
          </a:p>
        </p:txBody>
      </p:sp>
      <p:sp>
        <p:nvSpPr>
          <p:cNvPr id="8" name="Text 6"/>
          <p:cNvSpPr/>
          <p:nvPr/>
        </p:nvSpPr>
        <p:spPr>
          <a:xfrm>
            <a:off x="7677158" y="4514656"/>
            <a:ext cx="2933644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lines of code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7677158" y="5118286"/>
            <a:ext cx="2933644" cy="751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350" b="1" dirty="0">
                <a:solidFill>
                  <a:srgbClr val="1E7A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26 → 5</a:t>
            </a:r>
            <a:endParaRPr lang="en-US" sz="4350" dirty="0"/>
          </a:p>
        </p:txBody>
      </p:sp>
      <p:sp>
        <p:nvSpPr>
          <p:cNvPr id="10" name="Text 8"/>
          <p:cNvSpPr/>
          <p:nvPr/>
        </p:nvSpPr>
        <p:spPr>
          <a:xfrm>
            <a:off x="7677158" y="5869325"/>
            <a:ext cx="2933644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logical operators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7677158" y="6472955"/>
            <a:ext cx="2933644" cy="7510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350" b="1" dirty="0">
                <a:solidFill>
                  <a:srgbClr val="1E7A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792 → 14</a:t>
            </a:r>
            <a:endParaRPr lang="en-US" sz="4350" dirty="0"/>
          </a:p>
        </p:txBody>
      </p:sp>
      <p:sp>
        <p:nvSpPr>
          <p:cNvPr id="12" name="Text 10"/>
          <p:cNvSpPr/>
          <p:nvPr/>
        </p:nvSpPr>
        <p:spPr>
          <a:xfrm>
            <a:off x="7677158" y="7223994"/>
            <a:ext cx="2933644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milliseconds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10858408" y="2208011"/>
            <a:ext cx="6477167" cy="6295909"/>
          </a:xfrm>
          <a:prstGeom prst="rect">
            <a:avLst/>
          </a:prstGeom>
          <a:solidFill>
            <a:srgbClr val="16202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239362" y="2531767"/>
            <a:ext cx="6286785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58" kern="0" dirty="0">
                <a:solidFill>
                  <a:srgbClr val="6FC79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NEO4J — SHORTEST 1 PATH PATTERN (GQL)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11239362" y="4926179"/>
            <a:ext cx="4944243" cy="186624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538" dirty="0">
                <a:solidFill>
                  <a:srgbClr val="D5E5D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MATCH (a:Player {name: $player_a}),</a:t>
            </a:r>
            <a:endParaRPr lang="en-US" sz="2250" dirty="0"/>
          </a:p>
          <a:p>
            <a:r>
              <a:rPr sz="1538">
                <a:solidFill>
                  <a:srgbClr val="D5E5DC"/>
                </a:solidFill>
                <a:latin typeface="IBM Plex Mono"/>
              </a:rPr>
              <a:t>      (b:Player {name: $player_b})</a:t>
            </a:r>
          </a:p>
          <a:p>
            <a:r>
              <a:rPr sz="1538">
                <a:solidFill>
                  <a:srgbClr val="D5E5DC"/>
                </a:solidFill>
                <a:latin typeface="IBM Plex Mono"/>
              </a:rPr>
              <a:t>MATCH path = SHORTEST 1 (a)</a:t>
            </a:r>
          </a:p>
          <a:p>
            <a:r>
              <a:rPr sz="1538">
                <a:solidFill>
                  <a:srgbClr val="D5E5DC"/>
                </a:solidFill>
                <a:latin typeface="IBM Plex Mono"/>
              </a:rPr>
              <a:t>  ((x:Player)-[r1:PLAYED_FOR]-&gt;(:Team)</a:t>
            </a:r>
          </a:p>
          <a:p>
            <a:r>
              <a:rPr sz="1538">
                <a:solidFill>
                  <a:srgbClr val="D5E5DC"/>
                </a:solidFill>
                <a:latin typeface="IBM Plex Mono"/>
              </a:rPr>
              <a:t>    &lt;-[r2:PLAYED_FOR]-(y:Player)</a:t>
            </a:r>
          </a:p>
          <a:p>
            <a:r>
              <a:rPr sz="1538">
                <a:solidFill>
                  <a:srgbClr val="D5E5DC"/>
                </a:solidFill>
                <a:latin typeface="IBM Plex Mono"/>
              </a:rPr>
              <a:t>    WHERE r1.season = r2.season){1,6}</a:t>
            </a:r>
          </a:p>
          <a:p>
            <a:r>
              <a:rPr sz="1538">
                <a:solidFill>
                  <a:srgbClr val="D5E5DC"/>
                </a:solidFill>
                <a:latin typeface="IBM Plex Mono"/>
              </a:rPr>
              <a:t>  (b)</a:t>
            </a:r>
          </a:p>
          <a:p>
            <a:r>
              <a:rPr sz="1538">
                <a:solidFill>
                  <a:srgbClr val="D5E5DC"/>
                </a:solidFill>
                <a:latin typeface="IBM Plex Mono"/>
              </a:rPr>
              <a:t>RETURN length(path) / 2;</a:t>
            </a:r>
          </a:p>
        </p:txBody>
      </p:sp>
      <p:sp>
        <p:nvSpPr>
          <p:cNvPr id="16" name="Text 14"/>
          <p:cNvSpPr/>
          <p:nvPr/>
        </p:nvSpPr>
        <p:spPr>
          <a:xfrm>
            <a:off x="952385" y="9633214"/>
            <a:ext cx="632952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DM 2025/26 · D'Angelica &amp; Leone · PostgreSQL vs Neo4j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6575568" y="9633214"/>
            <a:ext cx="836206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16</a:t>
            </a:r>
            <a:endParaRPr lang="en-US" sz="1425" dirty="0"/>
          </a:p>
        </p:txBody>
      </p:sp>
      <p:sp>
        <p:nvSpPr>
          <p:cNvPr id="3001" name="Text 69"/>
          <p:cNvSpPr/>
          <p:nvPr/>
        </p:nvSpPr>
        <p:spPr>
          <a:xfrm>
            <a:off x="950976" y="8686800"/>
            <a:ext cx="1638604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6B655C"/>
                </a:solidFill>
                <a:latin typeface="Space Grotesk" pitchFamily="34" charset="0"/>
                <a:ea typeface="IBM Plex Mono" pitchFamily="34" charset="-122"/>
                <a:cs typeface="IBM Plex Mono" pitchFamily="34" charset="-120"/>
              </a:rPr>
              <a:t>Semantics verified, not assumed: the legacy shortestPath() diverges from the SQL BFS on 1 of 8 player pairs (Ibrahimović → Neuer: 2 hops instead of 3) because it ignores the season between consecutive edges — replaced by the quantified path pattern (report §10.2).</a:t>
            </a:r>
            <a:endParaRPr lang="en-US" sz="15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761908"/>
            <a:ext cx="18021508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BEYOND MILLISECONDS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385" y="1192451"/>
            <a:ext cx="16678214" cy="1231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spc="-65" kern="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Cypher is not just faster: it's 4× shorter — and a schema change is one SET, not a migration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385" y="2861773"/>
            <a:ext cx="6957435" cy="5172631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437272" y="3289463"/>
            <a:ext cx="6586426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89" kern="0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CODE EXPRESSIVENESS — Q10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1435608" y="3703320"/>
            <a:ext cx="14173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E7A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4×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2834640" y="3858768"/>
            <a:ext cx="20116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fewer lines of code</a:t>
            </a:r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21 SQL → 5 Cypher</a:t>
            </a:r>
            <a:pPr algn="l" indent="0" marL="0">
              <a:buNone/>
            </a:pP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754880" y="3703320"/>
            <a:ext cx="13716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E7A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5×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053328" y="3858768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fewer operators</a:t>
            </a:r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26 SQL → 5 Cypher</a:t>
            </a:r>
            <a:pPr algn="l" indent="0" marL="0">
              <a:buNone/>
            </a:pP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35608" y="4846320"/>
            <a:ext cx="6309360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9A938A"/>
                </a:solidFill>
                <a:latin typeface="IBM Plex Mono" pitchFamily="34" charset="0"/>
                <a:ea typeface="Space Grotesk" pitchFamily="34" charset="-122"/>
                <a:cs typeface="Space Grotesk" pitchFamily="34" charset="-120"/>
              </a:rPr>
              <a:t>LINES OF CODE PER QUERY — ALL 12, SQL VS CYPHER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90773" y="2861773"/>
            <a:ext cx="9044801" cy="5172631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775661" y="3289463"/>
            <a:ext cx="8882529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89" kern="0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SCHEMA EVOLUTION — Q12: ADD totalGoals TO EVERY MATCH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8775661" y="3817011"/>
            <a:ext cx="4294508" cy="281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POSTGRES — 2 STEPS + LOCK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775661" y="4174733"/>
            <a:ext cx="3904098" cy="2171328"/>
          </a:xfrm>
          <a:prstGeom prst="rect">
            <a:avLst/>
          </a:prstGeom>
          <a:solidFill>
            <a:srgbClr val="16202C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23311" y="4403333"/>
            <a:ext cx="3525921" cy="17522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8C4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ALTER TABLE match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8C4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ADD COLUMN total_goals;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8C4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UPDATE match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8C4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 total_goals =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8C4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home_goal + away_goal;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946453" y="3817011"/>
            <a:ext cx="4294657" cy="281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NEO4J — 1 STEP, NO DDL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2946453" y="4174733"/>
            <a:ext cx="3904233" cy="1599898"/>
          </a:xfrm>
          <a:prstGeom prst="rect">
            <a:avLst/>
          </a:prstGeom>
          <a:solidFill>
            <a:srgbClr val="16202C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194103" y="4403333"/>
            <a:ext cx="3526060" cy="118079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D5E5D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MATCH (m:Match)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D5E5D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 m.totalGoals =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D5E5D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m.homeGoals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D5E5D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m.awayGoals;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75661" y="6612756"/>
            <a:ext cx="8317277" cy="728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b="1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436 ms vs 85 ms (5.1×, measured through COMMIT) — same CPU work, radically different change-management: schema-on-write vs schema-on-read.</a:t>
            </a:r>
            <a:pPr algn="l" indent="0" marL="0">
              <a:lnSpc>
                <a:spcPct val="145000"/>
              </a:lnSpc>
              <a:buNone/>
            </a:pP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952385" y="9633214"/>
            <a:ext cx="632952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DM 2025/26 · D'Angelica &amp; Leone · PostgreSQL vs Neo4j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6575568" y="9633214"/>
            <a:ext cx="836206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16</a:t>
            </a:r>
            <a:endParaRPr lang="en-US" sz="1425" dirty="0"/>
          </a:p>
        </p:txBody>
      </p:sp>
      <p:pic>
        <p:nvPicPr>
          <p:cNvPr id="22" name="Picture 21" descr="lo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5212080"/>
            <a:ext cx="612648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57146"/>
            <a:ext cx="18021508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CONCLUSIONS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385" y="1306710"/>
            <a:ext cx="18021508" cy="655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spc="-67" kern="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takeaways from twelve queries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385" y="2590595"/>
            <a:ext cx="5207004" cy="4160520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99095" y="3056462"/>
            <a:ext cx="4744941" cy="761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3360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399095" y="3989826"/>
            <a:ext cx="4442990" cy="776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325" b="1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the depth is fixed, the relational join still wins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1399095" y="4880122"/>
            <a:ext cx="4442990" cy="1032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Two-hop teammates (Q09): same precomputed relation, B-tree joins beat the traversal 2.7× — and the gap widens with data. Light aggregations (&lt; 25 ms): a dead heat across runs.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40342" y="2590595"/>
            <a:ext cx="5207139" cy="4160520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987053" y="3056462"/>
            <a:ext cx="4745090" cy="761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1E7A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5700" dirty="0"/>
          </a:p>
        </p:txBody>
      </p:sp>
      <p:sp>
        <p:nvSpPr>
          <p:cNvPr id="10" name="Text 8"/>
          <p:cNvSpPr/>
          <p:nvPr/>
        </p:nvSpPr>
        <p:spPr>
          <a:xfrm>
            <a:off x="6987053" y="3989826"/>
            <a:ext cx="4443130" cy="776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325" b="1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Neo4j wins where the depth is variable — by a class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6987053" y="4880122"/>
            <a:ext cx="4443130" cy="1032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Q10: 55× with identical semantics — the CTE explores 44,251 states, SHORTEST 1 touches 4,402 db hits. Q06 (2.9×) and Q07 (1.9×) follow; Q07's edge grows with data.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128435" y="2590595"/>
            <a:ext cx="5207139" cy="4160520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575145" y="3056462"/>
            <a:ext cx="4745090" cy="761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1E7A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5700" dirty="0"/>
          </a:p>
        </p:txBody>
      </p:sp>
      <p:sp>
        <p:nvSpPr>
          <p:cNvPr id="14" name="Text 12"/>
          <p:cNvSpPr/>
          <p:nvPr/>
        </p:nvSpPr>
        <p:spPr>
          <a:xfrm>
            <a:off x="12575145" y="3989826"/>
            <a:ext cx="4443130" cy="7760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325" b="1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Schema flexibility is the forgotten dimension</a:t>
            </a:r>
            <a:endParaRPr lang="en-US" sz="2325" dirty="0"/>
          </a:p>
        </p:txBody>
      </p:sp>
      <p:sp>
        <p:nvSpPr>
          <p:cNvPr id="15" name="Text 13"/>
          <p:cNvSpPr/>
          <p:nvPr/>
        </p:nvSpPr>
        <p:spPr>
          <a:xfrm>
            <a:off x="12575145" y="4880122"/>
            <a:ext cx="4443130" cy="1032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SET vs ALTER + UPDATE: 5.1× measured through commit. In change-heavy environments this matters more than raw milliseconds.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385" y="7178040"/>
            <a:ext cx="16383190" cy="875759"/>
          </a:xfrm>
          <a:prstGeom prst="rect">
            <a:avLst/>
          </a:prstGeom>
          <a:solidFill>
            <a:srgbClr val="EDE9E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371380" y="7488936"/>
            <a:ext cx="916228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B048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CAVEATS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2401884" y="7470648"/>
            <a:ext cx="14630400" cy="342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Single node, single user, default configs. Four sensitivity analyses in the report: work_mem, Q10 semantics, MVCC bloat (VACUUM protocol), scaling on 2/4/8 seasons.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952385" y="9633214"/>
            <a:ext cx="632952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DM 2025/26 · D'Angelica &amp; Leone · PostgreSQL vs Neo4j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6575568" y="9633214"/>
            <a:ext cx="836206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16</a:t>
            </a:r>
            <a:endParaRPr lang="en-US" sz="14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2" name="Text 0"/>
          <p:cNvSpPr/>
          <p:nvPr/>
        </p:nvSpPr>
        <p:spPr>
          <a:xfrm>
            <a:off x="952385" y="857146"/>
            <a:ext cx="18021508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EASE-OF-USE &amp; SCALABILITY</a:t>
            </a:r>
            <a:endParaRPr lang="en-US" sz="1650" dirty="0"/>
          </a:p>
        </p:txBody>
      </p:sp>
      <p:sp>
        <p:nvSpPr>
          <p:cNvPr id="1003" name="Text 1"/>
          <p:cNvSpPr/>
          <p:nvPr/>
        </p:nvSpPr>
        <p:spPr>
          <a:xfrm>
            <a:off x="952385" y="1306710"/>
            <a:ext cx="18021508" cy="6553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b="1" spc="-67" kern="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more dimensions: ease of use and scalability</a:t>
            </a:r>
            <a:endParaRPr lang="en-US" sz="4500" dirty="0"/>
          </a:p>
        </p:txBody>
      </p:sp>
      <p:sp>
        <p:nvSpPr>
          <p:cNvPr id="1004" name="Shape 2"/>
          <p:cNvSpPr/>
          <p:nvPr/>
        </p:nvSpPr>
        <p:spPr>
          <a:xfrm>
            <a:off x="950976" y="2587752"/>
            <a:ext cx="7406640" cy="5440680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1005" name="Text 3"/>
          <p:cNvSpPr/>
          <p:nvPr/>
        </p:nvSpPr>
        <p:spPr>
          <a:xfrm>
            <a:off x="1399032" y="3017520"/>
            <a:ext cx="4572000" cy="758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3360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5,653</a:t>
            </a:r>
            <a:endParaRPr lang="en-US" sz="5700" dirty="0"/>
          </a:p>
        </p:txBody>
      </p:sp>
      <p:sp>
        <p:nvSpPr>
          <p:cNvPr id="1006" name="Text 4"/>
          <p:cNvSpPr/>
          <p:nvPr/>
        </p:nvSpPr>
        <p:spPr>
          <a:xfrm>
            <a:off x="1399032" y="3931920"/>
            <a:ext cx="6583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325" b="1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Schema-first found our bugs</a:t>
            </a:r>
            <a:endParaRPr lang="en-US" sz="2325" dirty="0"/>
          </a:p>
        </p:txBody>
      </p:sp>
      <p:sp>
        <p:nvSpPr>
          <p:cNvPr id="1007" name="Text 5"/>
          <p:cNvSpPr/>
          <p:nvPr/>
        </p:nvSpPr>
        <p:spPr>
          <a:xfrm>
            <a:off x="1399032" y="4526280"/>
            <a:ext cx="662940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Postgres' FK check rejected 5,653 orphan player references — Neo4j would have loaded them silently.</a:t>
            </a:r>
            <a:endParaRPr lang="en-US" sz="1800" dirty="0"/>
          </a:p>
          <a:p>
            <a:pPr algn="l" indent="0" marL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Running both systems side by side caught three more silent bugs: NULL semantics (Q05), path semantics (Q10), name-based grouping (Q07, Q09).</a:t>
            </a:r>
            <a:endParaRPr lang="en-US" sz="1800" dirty="0"/>
          </a:p>
          <a:p>
            <a:pPr algn="l" indent="0" marL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· Cypher is 2× shorter on average, 4× on the shortest path; SQL's explicit schema is the documentation.</a:t>
            </a:r>
            <a:endParaRPr lang="en-US" sz="1800" dirty="0"/>
          </a:p>
        </p:txBody>
      </p:sp>
      <p:sp>
        <p:nvSpPr>
          <p:cNvPr id="1008" name="Shape 6"/>
          <p:cNvSpPr/>
          <p:nvPr/>
        </p:nvSpPr>
        <p:spPr>
          <a:xfrm>
            <a:off x="8631936" y="2587752"/>
            <a:ext cx="8705088" cy="5440680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1009" name="Text 7"/>
          <p:cNvSpPr/>
          <p:nvPr/>
        </p:nvSpPr>
        <p:spPr>
          <a:xfrm>
            <a:off x="9079992" y="3017520"/>
            <a:ext cx="4572000" cy="758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1E7A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3.3× vs 1.4×</a:t>
            </a:r>
            <a:endParaRPr lang="en-US" sz="5700" dirty="0"/>
          </a:p>
        </p:txBody>
      </p:sp>
      <p:sp>
        <p:nvSpPr>
          <p:cNvPr id="1010" name="Text 8"/>
          <p:cNvSpPr/>
          <p:nvPr/>
        </p:nvSpPr>
        <p:spPr>
          <a:xfrm>
            <a:off x="9079992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325" b="1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Q07 grows with 4× the data — Postgres vs Neo4j: the graph edge widens</a:t>
            </a:r>
            <a:endParaRPr lang="en-US" sz="2325" dirty="0"/>
          </a:p>
        </p:txBody>
      </p:sp>
      <p:sp>
        <p:nvSpPr>
          <p:cNvPr id="1011" name="Shape 14"/>
          <p:cNvSpPr/>
          <p:nvPr/>
        </p:nvSpPr>
        <p:spPr>
          <a:xfrm>
            <a:off x="952385" y="8275320"/>
            <a:ext cx="16383190" cy="777240"/>
          </a:xfrm>
          <a:prstGeom prst="rect">
            <a:avLst/>
          </a:prstGeom>
          <a:solidFill>
            <a:srgbClr val="EDE9E1"/>
          </a:solidFill>
          <a:ln/>
        </p:spPr>
        <p:txBody>
          <a:bodyPr/>
          <a:p/>
        </p:txBody>
      </p:sp>
      <p:sp>
        <p:nvSpPr>
          <p:cNvPr id="1012" name="Text 15"/>
          <p:cNvSpPr/>
          <p:nvPr/>
        </p:nvSpPr>
        <p:spPr>
          <a:xfrm>
            <a:off x="1371380" y="8531352"/>
            <a:ext cx="916228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B048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CAVEATS</a:t>
            </a:r>
            <a:endParaRPr lang="en-US" sz="1575" dirty="0"/>
          </a:p>
        </p:txBody>
      </p:sp>
      <p:sp>
        <p:nvSpPr>
          <p:cNvPr id="1013" name="Text 16"/>
          <p:cNvSpPr/>
          <p:nvPr/>
        </p:nvSpPr>
        <p:spPr>
          <a:xfrm>
            <a:off x="2401884" y="8513064"/>
            <a:ext cx="14630400" cy="342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Index-free adjacency does not partition for free: single-node result. 10 runs per cell, medians; on Q09 Postgres keeps its lead at every size.</a:t>
            </a:r>
            <a:endParaRPr lang="en-US" sz="1875" dirty="0"/>
          </a:p>
        </p:txBody>
      </p:sp>
      <p:sp>
        <p:nvSpPr>
          <p:cNvPr id="1014" name="Text 17"/>
          <p:cNvSpPr/>
          <p:nvPr/>
        </p:nvSpPr>
        <p:spPr>
          <a:xfrm>
            <a:off x="952385" y="9633214"/>
            <a:ext cx="632952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DM 2025/26 · D'Angelica &amp; Leone · PostgreSQL vs Neo4j</a:t>
            </a:r>
            <a:endParaRPr lang="en-US" sz="1425" dirty="0"/>
          </a:p>
        </p:txBody>
      </p:sp>
      <p:sp>
        <p:nvSpPr>
          <p:cNvPr id="1015" name="Text 18"/>
          <p:cNvSpPr/>
          <p:nvPr/>
        </p:nvSpPr>
        <p:spPr>
          <a:xfrm>
            <a:off x="16575568" y="9633214"/>
            <a:ext cx="836206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16</a:t>
            </a:r>
            <a:endParaRPr lang="en-US" sz="1425" dirty="0"/>
          </a:p>
        </p:txBody>
      </p:sp>
      <p:pic>
        <p:nvPicPr>
          <p:cNvPr id="1016" name="Picture 1015" descr="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4343400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761908"/>
            <a:ext cx="18021508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385" y="1192451"/>
            <a:ext cx="18021508" cy="634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spc="-65" kern="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 "which is better" — which problem do you have?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385" y="2265208"/>
            <a:ext cx="16383190" cy="3332667"/>
          </a:xfrm>
          <a:prstGeom prst="rect">
            <a:avLst/>
          </a:prstGeom>
          <a:solidFill>
            <a:srgbClr val="FFFFFF"/>
          </a:solidFill>
          <a:ln w="8695">
            <a:solidFill>
              <a:srgbClr val="E4DFD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1080" y="3113523"/>
            <a:ext cx="2476472" cy="9525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437552" y="3096133"/>
            <a:ext cx="6944664" cy="26085"/>
          </a:xfrm>
          <a:prstGeom prst="rect">
            <a:avLst/>
          </a:prstGeom>
          <a:solidFill>
            <a:srgbClr val="33608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761402" y="2502503"/>
            <a:ext cx="6505304" cy="403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360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Choose PostgreSQL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382215" y="3096133"/>
            <a:ext cx="6944664" cy="26085"/>
          </a:xfrm>
          <a:prstGeom prst="rect">
            <a:avLst/>
          </a:prstGeom>
          <a:solidFill>
            <a:srgbClr val="1E7A5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706065" y="2502503"/>
            <a:ext cx="6505304" cy="403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7A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Choose Neo4j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61080" y="3938742"/>
            <a:ext cx="2476472" cy="9525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284930" y="3369868"/>
            <a:ext cx="1904972" cy="359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INTEGRITY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3437552" y="3938742"/>
            <a:ext cx="6944664" cy="9525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761402" y="3369868"/>
            <a:ext cx="6505304" cy="359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ACID transactions and strict constraints matter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0382215" y="3938742"/>
            <a:ext cx="6944664" cy="9525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706065" y="3369868"/>
            <a:ext cx="6505304" cy="359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is naturally a network of entities and events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61080" y="4763961"/>
            <a:ext cx="2476472" cy="9525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284930" y="4195087"/>
            <a:ext cx="1904972" cy="359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WORKLOAD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3437552" y="4763961"/>
            <a:ext cx="6944664" cy="9525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761402" y="4195087"/>
            <a:ext cx="6505304" cy="359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Reporting and OLAP-style aggregations dominate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10382215" y="4763961"/>
            <a:ext cx="6944664" cy="9525"/>
          </a:xfrm>
          <a:prstGeom prst="rect">
            <a:avLst/>
          </a:prstGeom>
          <a:solidFill>
            <a:srgbClr val="E4DFD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706065" y="4195087"/>
            <a:ext cx="6505304" cy="359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Queries traverse paths, neighbourhoods, communities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284930" y="5020306"/>
            <a:ext cx="1904972" cy="359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SCHEMA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3761402" y="5020306"/>
            <a:ext cx="6505304" cy="359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Stable and well understood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706065" y="5020306"/>
            <a:ext cx="6505304" cy="3593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75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Evolves frequently and unpredictably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952385" y="6086838"/>
            <a:ext cx="6749323" cy="568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 — live demo time →</a:t>
            </a:r>
            <a:endParaRPr lang="en-US" sz="3300" dirty="0"/>
          </a:p>
        </p:txBody>
      </p:sp>
      <p:sp>
        <p:nvSpPr>
          <p:cNvPr id="26" name="Text 24"/>
          <p:cNvSpPr/>
          <p:nvPr/>
        </p:nvSpPr>
        <p:spPr>
          <a:xfrm>
            <a:off x="12416380" y="6016870"/>
            <a:ext cx="4919194" cy="708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github.com/g1up3/DM-Project-2026 · reports/benchmark_report.md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52385" y="9633214"/>
            <a:ext cx="632952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DM 2025/26 · D'Angelica &amp; Leone · PostgreSQL vs Neo4j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16575568" y="9633214"/>
            <a:ext cx="836206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16</a:t>
            </a:r>
            <a:endParaRPr lang="en-US" sz="1425" dirty="0"/>
          </a:p>
        </p:txBody>
      </p:sp>
      <p:pic>
        <p:nvPicPr>
          <p:cNvPr id="29" name="Picture 28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6784" y="6812280"/>
            <a:ext cx="1920240" cy="1920240"/>
          </a:xfrm>
          <a:prstGeom prst="rect">
            <a:avLst/>
          </a:prstGeom>
        </p:spPr>
      </p:pic>
      <p:sp>
        <p:nvSpPr>
          <p:cNvPr id="1001" name="Text 24"/>
          <p:cNvSpPr/>
          <p:nvPr/>
        </p:nvSpPr>
        <p:spPr>
          <a:xfrm>
            <a:off x="11887200" y="8778240"/>
            <a:ext cx="544982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60000"/>
              </a:lnSpc>
              <a:buNone/>
            </a:pPr>
            <a:r>
              <a:rPr lang="en-US" sz="1250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scan — report, harness, plans, sensitivity analyses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57146"/>
            <a:ext cx="18021508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B048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BACKUP — ENGINEERING CHALLENGES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385" y="1306710"/>
            <a:ext cx="18021508" cy="634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spc="-65" kern="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bugs only the full load reveals — all fixed upstream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385" y="2569944"/>
            <a:ext cx="5232545" cy="3549229"/>
          </a:xfrm>
          <a:prstGeom prst="rect">
            <a:avLst/>
          </a:prstGeom>
          <a:solidFill>
            <a:srgbClr val="FFFFFF"/>
          </a:solidFill>
          <a:ln w="8695">
            <a:solidFill>
              <a:srgbClr val="DDD6C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61054" y="2997634"/>
            <a:ext cx="4856727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48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5,653 orphan player refs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61054" y="3504395"/>
            <a:ext cx="4547663" cy="678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XML events referenced player IDs absent from Player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61054" y="4277851"/>
            <a:ext cx="4856727" cy="35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Fix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nullified in transform.py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61054" y="4731219"/>
            <a:ext cx="4547663" cy="678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100% FK integrity, only 0.5% of attributions lost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27707" y="2569944"/>
            <a:ext cx="5232545" cy="3549229"/>
          </a:xfrm>
          <a:prstGeom prst="rect">
            <a:avLst/>
          </a:prstGeom>
          <a:solidFill>
            <a:srgbClr val="FFFFFF"/>
          </a:solidFill>
          <a:ln w="8695">
            <a:solidFill>
              <a:srgbClr val="DDD6C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936376" y="2997634"/>
            <a:ext cx="4856727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48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INTEGER NULL → "673.0"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936376" y="3504395"/>
            <a:ext cx="4547663" cy="678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pandas float-serialised nullable integers; COPY rejected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36376" y="4277851"/>
            <a:ext cx="4547663" cy="678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Fix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auto-detect and cast to Int64 before CSV write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36376" y="5051307"/>
            <a:ext cx="4547663" cy="678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clean load + player_stats.csv shrunk 38 → 25 MB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103029" y="2569944"/>
            <a:ext cx="5232545" cy="3549229"/>
          </a:xfrm>
          <a:prstGeom prst="rect">
            <a:avLst/>
          </a:prstGeom>
          <a:solidFill>
            <a:srgbClr val="FFFFFF"/>
          </a:solidFill>
          <a:ln w="8695">
            <a:solidFill>
              <a:srgbClr val="DDD6C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511698" y="2997634"/>
            <a:ext cx="4856727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48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card_type CHAR(1) too narrow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2511698" y="3504395"/>
            <a:ext cx="4547663" cy="678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the schema didn't anticipate "y2", the second-yellow code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511698" y="4277851"/>
            <a:ext cx="4856727" cy="35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Fix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widened to VARCHAR(2)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511698" y="4731219"/>
            <a:ext cx="4547663" cy="678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 the kind of bug only the full load reveals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52385" y="6690604"/>
            <a:ext cx="18021508" cy="351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Each fix is small in isolation; together they make the pipeline reproducible end-to-end.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52385" y="9633214"/>
            <a:ext cx="632952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DM 2025/26 · D'Angelica &amp; Leone · PostgreSQL vs Neo4j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6684121" y="9633214"/>
            <a:ext cx="727653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BACKUP</a:t>
            </a:r>
            <a:endParaRPr lang="en-US" sz="14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57146"/>
            <a:ext cx="18021508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B048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BACKUP — INDEX ABLATION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385" y="1306710"/>
            <a:ext cx="16187736" cy="1231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spc="-65" kern="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Without indexes both degrade: 3.5× on Postgres, 1.9× on Neo4j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385" y="2728358"/>
            <a:ext cx="18021508" cy="351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 index-query pairs (4 PG + 3 Neo4j) — each dropped, measured over 10 runs, restored. Shown: Q08.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385" y="3612812"/>
            <a:ext cx="8001118" cy="3892550"/>
          </a:xfrm>
          <a:prstGeom prst="rect">
            <a:avLst/>
          </a:prstGeom>
          <a:solidFill>
            <a:srgbClr val="FFFFFF"/>
          </a:solidFill>
          <a:ln w="8695">
            <a:solidFill>
              <a:srgbClr val="DDD6C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437272" y="4040502"/>
            <a:ext cx="7734477" cy="40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3608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PostgreSQL — Q08 </a:t>
            </a:r>
            <a:pPr algn="l" indent="0" marL="0">
              <a:buNone/>
            </a:pPr>
            <a:r>
              <a:rPr lang="en-US" sz="1650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ix_lineup_player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37272" y="4786650"/>
            <a:ext cx="7734477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WITH INDEX — 3.2 ms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1437272" y="5123585"/>
            <a:ext cx="2039000" cy="323756"/>
          </a:xfrm>
          <a:prstGeom prst="rect">
            <a:avLst/>
          </a:prstGeom>
          <a:solidFill>
            <a:srgbClr val="33608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437272" y="5656838"/>
            <a:ext cx="7734477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WITHOUT — 11.2 ms</a:t>
            </a:r>
            <a:endParaRPr lang="en-US" sz="1575" dirty="0"/>
          </a:p>
        </p:txBody>
      </p:sp>
      <p:sp>
        <p:nvSpPr>
          <p:cNvPr id="10" name="Shape 8"/>
          <p:cNvSpPr/>
          <p:nvPr/>
        </p:nvSpPr>
        <p:spPr>
          <a:xfrm>
            <a:off x="1437272" y="5993774"/>
            <a:ext cx="7031343" cy="323756"/>
          </a:xfrm>
          <a:prstGeom prst="rect">
            <a:avLst/>
          </a:prstGeom>
          <a:solidFill>
            <a:srgbClr val="C6CFD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437272" y="6660307"/>
            <a:ext cx="7734477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048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3.48× slowdown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34456" y="3612812"/>
            <a:ext cx="8001118" cy="3892550"/>
          </a:xfrm>
          <a:prstGeom prst="rect">
            <a:avLst/>
          </a:prstGeom>
          <a:solidFill>
            <a:srgbClr val="FFFFFF"/>
          </a:solidFill>
          <a:ln w="8695">
            <a:solidFill>
              <a:srgbClr val="DDD6C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819344" y="4040502"/>
            <a:ext cx="7734477" cy="40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7A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Neo4j — Q08 </a:t>
            </a:r>
            <a:pPr algn="l" indent="0" marL="0">
              <a:buNone/>
            </a:pPr>
            <a:r>
              <a:rPr lang="en-US" sz="1650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player_name_idx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819344" y="4786650"/>
            <a:ext cx="7734477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WITH INDEX — 3.9 ms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9819344" y="5123585"/>
            <a:ext cx="3726527" cy="323756"/>
          </a:xfrm>
          <a:prstGeom prst="rect">
            <a:avLst/>
          </a:prstGeom>
          <a:solidFill>
            <a:srgbClr val="1E7A5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819344" y="5656838"/>
            <a:ext cx="7734477" cy="298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WITHOUT — 7.4 ms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819344" y="5993774"/>
            <a:ext cx="7031343" cy="323756"/>
          </a:xfrm>
          <a:prstGeom prst="rect">
            <a:avLst/>
          </a:prstGeom>
          <a:solidFill>
            <a:srgbClr val="BFD8CC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819344" y="6660307"/>
            <a:ext cx="7734477" cy="455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048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1.91× slowdown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52385" y="9633214"/>
            <a:ext cx="632952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DM 2025/26 · D'Angelica &amp; Leone · PostgreSQL vs Neo4j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6684121" y="9633214"/>
            <a:ext cx="727653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BACKUP</a:t>
            </a:r>
            <a:endParaRPr lang="en-US" sz="14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E9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385" y="857146"/>
            <a:ext cx="18021508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B048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BACKUP — LIMITATIONS, FUTURE WORK &amp; REFERENCES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52385" y="1306710"/>
            <a:ext cx="18021508" cy="634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spc="-65" kern="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this benchmark does not measure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385" y="2379467"/>
            <a:ext cx="8039159" cy="2093752"/>
          </a:xfrm>
          <a:prstGeom prst="rect">
            <a:avLst/>
          </a:prstGeom>
          <a:solidFill>
            <a:srgbClr val="FFFFFF"/>
          </a:solidFill>
          <a:ln w="8695">
            <a:solidFill>
              <a:srgbClr val="DDD6C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61054" y="2711919"/>
            <a:ext cx="7944002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Single-node, single-user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61054" y="3146266"/>
            <a:ext cx="7438475" cy="701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Concurrency, lock contention and MVCC under load are out of scope.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296280" y="2379467"/>
            <a:ext cx="8039295" cy="2093752"/>
          </a:xfrm>
          <a:prstGeom prst="rect">
            <a:avLst/>
          </a:prstGeom>
          <a:solidFill>
            <a:srgbClr val="FFFFFF"/>
          </a:solidFill>
          <a:ln w="8695">
            <a:solidFill>
              <a:srgbClr val="DDD6C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704949" y="2711919"/>
            <a:ext cx="7944151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tuning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704949" y="3146266"/>
            <a:ext cx="7438614" cy="1032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Default configs. work_mem tested on Q07: no effect. A shared_buffers / pagecache grid could shift close category-A races.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385" y="4777955"/>
            <a:ext cx="8039159" cy="1779641"/>
          </a:xfrm>
          <a:prstGeom prst="rect">
            <a:avLst/>
          </a:prstGeom>
          <a:solidFill>
            <a:srgbClr val="FFFFFF"/>
          </a:solidFill>
          <a:ln w="8695">
            <a:solidFill>
              <a:srgbClr val="DDD6C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361054" y="5110406"/>
            <a:ext cx="7944002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Medium scale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61054" y="5544753"/>
            <a:ext cx="7438475" cy="701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Measured on 2/4/8 seasons: Neo4j's aggregation edge widens with data, Postgres' fixed-depth join edge too. LDBC-SNB scale is future work.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96280" y="4777955"/>
            <a:ext cx="8039295" cy="1779641"/>
          </a:xfrm>
          <a:prstGeom prst="rect">
            <a:avLst/>
          </a:prstGeom>
          <a:solidFill>
            <a:srgbClr val="FFFFFF"/>
          </a:solidFill>
          <a:ln w="17390">
            <a:solidFill>
              <a:srgbClr val="B0483A"/>
            </a:solidFill>
            <a:prstDash val="dash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713644" y="5119101"/>
            <a:ext cx="7925022" cy="377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0483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work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713644" y="5553449"/>
            <a:ext cx="7420702" cy="701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OLTP write-heavy workload · Citus vs Neo4j Fabric · hybrid polyglot architectures.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2385" y="6976591"/>
            <a:ext cx="16874685" cy="75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80000"/>
              </a:lnSpc>
              <a:buNone/>
            </a:pPr>
            <a:r>
              <a:rPr lang="en-US" sz="1575" dirty="0">
                <a:solidFill>
                  <a:srgbClr val="6B65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Angles &amp; Gutierrez (2008), ACM Comp. Surveys · Vicknair et al. (2010), ACM SE · Holzschuher &amp; Peinl (2013), EDBT/ICDT · Erling et al. (2015), LDBC-SNB, SIGMOD · Robinson et al. (2015), Graph Databases 2nd ed.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952385" y="9633214"/>
            <a:ext cx="632952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DM 2025/26 · D'Angelica &amp; Leone · PostgreSQL vs Neo4j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6684121" y="9633214"/>
            <a:ext cx="727653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BACKUP</a:t>
            </a:r>
            <a:endParaRPr lang="en-US" sz="14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9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16" name="Text 0"/>
          <p:cNvSpPr/>
          <p:nvPr/>
        </p:nvSpPr>
        <p:spPr>
          <a:xfrm>
            <a:off x="952385" y="857146"/>
            <a:ext cx="18021508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B048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BACKUP — THE 12 QUERIES IN PLAIN WORDS</a:t>
            </a:r>
            <a:endParaRPr lang="en-US" sz="1650" dirty="0"/>
          </a:p>
        </p:txBody>
      </p:sp>
      <p:sp>
        <p:nvSpPr>
          <p:cNvPr id="1017" name="Text 1"/>
          <p:cNvSpPr/>
          <p:nvPr/>
        </p:nvSpPr>
        <p:spPr>
          <a:xfrm>
            <a:off x="952385" y="1306710"/>
            <a:ext cx="18021508" cy="634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spc="-65" kern="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each query asks — and what it tests</a:t>
            </a:r>
            <a:endParaRPr lang="en-US" sz="4350" dirty="0"/>
          </a:p>
        </p:txBody>
      </p:sp>
      <p:sp>
        <p:nvSpPr>
          <p:cNvPr id="1018" name="Shape 2"/>
          <p:cNvSpPr/>
          <p:nvPr/>
        </p:nvSpPr>
        <p:spPr>
          <a:xfrm>
            <a:off x="950976" y="2569464"/>
            <a:ext cx="8083296" cy="6446520"/>
          </a:xfrm>
          <a:prstGeom prst="rect">
            <a:avLst/>
          </a:prstGeom>
          <a:solidFill>
            <a:srgbClr val="FFFFFF"/>
          </a:solidFill>
          <a:ln w="8695">
            <a:solidFill>
              <a:srgbClr val="DDD6CA"/>
            </a:solidFill>
            <a:prstDash val="solid"/>
          </a:ln>
        </p:spPr>
        <p:txBody>
          <a:bodyPr/>
          <a:p/>
        </p:txBody>
      </p:sp>
      <p:sp>
        <p:nvSpPr>
          <p:cNvPr id="1019" name="Text 3"/>
          <p:cNvSpPr/>
          <p:nvPr/>
        </p:nvSpPr>
        <p:spPr>
          <a:xfrm>
            <a:off x="1316736" y="2852928"/>
            <a:ext cx="10058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Q01</a:t>
            </a:r>
            <a:endParaRPr lang="en-US" sz="1650" dirty="0"/>
          </a:p>
        </p:txBody>
      </p:sp>
      <p:sp>
        <p:nvSpPr>
          <p:cNvPr id="1020" name="Text 3"/>
          <p:cNvSpPr/>
          <p:nvPr/>
        </p:nvSpPr>
        <p:spPr>
          <a:xfrm>
            <a:off x="1316736" y="3218688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cat. A</a:t>
            </a:r>
            <a:endParaRPr lang="en-US" sz="1650" dirty="0"/>
          </a:p>
        </p:txBody>
      </p:sp>
      <p:sp>
        <p:nvSpPr>
          <p:cNvPr id="1021" name="Text 4"/>
          <p:cNvSpPr/>
          <p:nvPr/>
        </p:nvSpPr>
        <p:spPr>
          <a:xfrm>
            <a:off x="2368296" y="2825496"/>
            <a:ext cx="63550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Top scorers by season — top-N goal scorers of one season. 3-table join + GROUP BY.</a:t>
            </a:r>
            <a:pPr algn="l" indent="0" marL="0">
              <a:lnSpc>
                <a:spcPct val="140000"/>
              </a:lnSpc>
              <a:buNone/>
            </a:pPr>
            <a:endParaRPr lang="en-US" sz="1800" dirty="0"/>
          </a:p>
        </p:txBody>
      </p:sp>
      <p:sp>
        <p:nvSpPr>
          <p:cNvPr id="1022" name="Text 3"/>
          <p:cNvSpPr/>
          <p:nvPr/>
        </p:nvSpPr>
        <p:spPr>
          <a:xfrm>
            <a:off x="1316736" y="3886200"/>
            <a:ext cx="10058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Q02</a:t>
            </a:r>
            <a:endParaRPr lang="en-US" sz="1650" dirty="0"/>
          </a:p>
        </p:txBody>
      </p:sp>
      <p:sp>
        <p:nvSpPr>
          <p:cNvPr id="1023" name="Text 3"/>
          <p:cNvSpPr/>
          <p:nvPr/>
        </p:nvSpPr>
        <p:spPr>
          <a:xfrm>
            <a:off x="1316736" y="4251960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cat. A</a:t>
            </a:r>
            <a:endParaRPr lang="en-US" sz="1650" dirty="0"/>
          </a:p>
        </p:txBody>
      </p:sp>
      <p:sp>
        <p:nvSpPr>
          <p:cNvPr id="1024" name="Text 4"/>
          <p:cNvSpPr/>
          <p:nvPr/>
        </p:nvSpPr>
        <p:spPr>
          <a:xfrm>
            <a:off x="2368296" y="3858768"/>
            <a:ext cx="63550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League standings — full table of one league-season: points, goal difference. UNION ALL + aggregation.</a:t>
            </a:r>
            <a:pPr algn="l" indent="0" marL="0">
              <a:lnSpc>
                <a:spcPct val="140000"/>
              </a:lnSpc>
              <a:buNone/>
            </a:pPr>
            <a:endParaRPr lang="en-US" sz="1800" dirty="0"/>
          </a:p>
        </p:txBody>
      </p:sp>
      <p:sp>
        <p:nvSpPr>
          <p:cNvPr id="1025" name="Text 3"/>
          <p:cNvSpPr/>
          <p:nvPr/>
        </p:nvSpPr>
        <p:spPr>
          <a:xfrm>
            <a:off x="1316736" y="4919472"/>
            <a:ext cx="10058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Q03</a:t>
            </a:r>
            <a:endParaRPr lang="en-US" sz="1650" dirty="0"/>
          </a:p>
        </p:txBody>
      </p:sp>
      <p:sp>
        <p:nvSpPr>
          <p:cNvPr id="1026" name="Text 3"/>
          <p:cNvSpPr/>
          <p:nvPr/>
        </p:nvSpPr>
        <p:spPr>
          <a:xfrm>
            <a:off x="1316736" y="5285232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cat. A</a:t>
            </a:r>
            <a:endParaRPr lang="en-US" sz="1650" dirty="0"/>
          </a:p>
        </p:txBody>
      </p:sp>
      <p:sp>
        <p:nvSpPr>
          <p:cNvPr id="1027" name="Text 4"/>
          <p:cNvSpPr/>
          <p:nvPr/>
        </p:nvSpPr>
        <p:spPr>
          <a:xfrm>
            <a:off x="2368296" y="4892040"/>
            <a:ext cx="63550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Goals per match by league — average goals per match in every league, one season. GROUP BY.</a:t>
            </a:r>
            <a:pPr algn="l" indent="0" marL="0">
              <a:lnSpc>
                <a:spcPct val="140000"/>
              </a:lnSpc>
              <a:buNone/>
            </a:pPr>
            <a:endParaRPr lang="en-US" sz="1800" dirty="0"/>
          </a:p>
        </p:txBody>
      </p:sp>
      <p:sp>
        <p:nvSpPr>
          <p:cNvPr id="1028" name="Text 3"/>
          <p:cNvSpPr/>
          <p:nvPr/>
        </p:nvSpPr>
        <p:spPr>
          <a:xfrm>
            <a:off x="1316736" y="5952744"/>
            <a:ext cx="10058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Q04</a:t>
            </a:r>
            <a:endParaRPr lang="en-US" sz="1650" dirty="0"/>
          </a:p>
        </p:txBody>
      </p:sp>
      <p:sp>
        <p:nvSpPr>
          <p:cNvPr id="1029" name="Text 3"/>
          <p:cNvSpPr/>
          <p:nvPr/>
        </p:nvSpPr>
        <p:spPr>
          <a:xfrm>
            <a:off x="1316736" y="6318504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cat. A</a:t>
            </a:r>
            <a:endParaRPr lang="en-US" sz="1650" dirty="0"/>
          </a:p>
        </p:txBody>
      </p:sp>
      <p:sp>
        <p:nvSpPr>
          <p:cNvPr id="1030" name="Text 4"/>
          <p:cNvSpPr/>
          <p:nvPr/>
        </p:nvSpPr>
        <p:spPr>
          <a:xfrm>
            <a:off x="2368296" y="5925312"/>
            <a:ext cx="63550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Home win % by team — teams with the best home-win rate, min. N home matches. Conditional aggregation.</a:t>
            </a:r>
            <a:pPr algn="l" indent="0" marL="0">
              <a:lnSpc>
                <a:spcPct val="140000"/>
              </a:lnSpc>
              <a:buNone/>
            </a:pPr>
            <a:endParaRPr lang="en-US" sz="1800" dirty="0"/>
          </a:p>
        </p:txBody>
      </p:sp>
      <p:sp>
        <p:nvSpPr>
          <p:cNvPr id="1031" name="Text 3"/>
          <p:cNvSpPr/>
          <p:nvPr/>
        </p:nvSpPr>
        <p:spPr>
          <a:xfrm>
            <a:off x="1316736" y="6986016"/>
            <a:ext cx="10058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Q05</a:t>
            </a:r>
            <a:endParaRPr lang="en-US" sz="1650" dirty="0"/>
          </a:p>
        </p:txBody>
      </p:sp>
      <p:sp>
        <p:nvSpPr>
          <p:cNvPr id="1032" name="Text 3"/>
          <p:cNvSpPr/>
          <p:nvPr/>
        </p:nvSpPr>
        <p:spPr>
          <a:xfrm>
            <a:off x="1316736" y="7351775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cat. B</a:t>
            </a:r>
            <a:endParaRPr lang="en-US" sz="1650" dirty="0"/>
          </a:p>
        </p:txBody>
      </p:sp>
      <p:sp>
        <p:nvSpPr>
          <p:cNvPr id="1033" name="Text 4"/>
          <p:cNvSpPr/>
          <p:nvPr/>
        </p:nvSpPr>
        <p:spPr>
          <a:xfrm>
            <a:off x="2368296" y="6958583"/>
            <a:ext cx="63550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Goal-assist partnerships — scorer–assister pairs that combined at least N times. Self-join on one event.</a:t>
            </a:r>
            <a:pPr algn="l" indent="0" marL="0">
              <a:lnSpc>
                <a:spcPct val="140000"/>
              </a:lnSpc>
              <a:buNone/>
            </a:pPr>
            <a:endParaRPr lang="en-US" sz="1800" dirty="0"/>
          </a:p>
        </p:txBody>
      </p:sp>
      <p:sp>
        <p:nvSpPr>
          <p:cNvPr id="1034" name="Text 3"/>
          <p:cNvSpPr/>
          <p:nvPr/>
        </p:nvSpPr>
        <p:spPr>
          <a:xfrm>
            <a:off x="1316736" y="8019288"/>
            <a:ext cx="10058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Q06</a:t>
            </a:r>
            <a:endParaRPr lang="en-US" sz="1650" dirty="0"/>
          </a:p>
        </p:txBody>
      </p:sp>
      <p:sp>
        <p:nvSpPr>
          <p:cNvPr id="1035" name="Text 3"/>
          <p:cNvSpPr/>
          <p:nvPr/>
        </p:nvSpPr>
        <p:spPr>
          <a:xfrm>
            <a:off x="1316736" y="8385048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cat. B</a:t>
            </a:r>
            <a:endParaRPr lang="en-US" sz="1650" dirty="0"/>
          </a:p>
        </p:txBody>
      </p:sp>
      <p:sp>
        <p:nvSpPr>
          <p:cNvPr id="1036" name="Text 4"/>
          <p:cNvSpPr/>
          <p:nvPr/>
        </p:nvSpPr>
        <p:spPr>
          <a:xfrm>
            <a:off x="2368296" y="7991856"/>
            <a:ext cx="63550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Cards vs Real Madrid — players booked most often when playing against a given team. 4-table join.</a:t>
            </a:r>
            <a:pPr algn="l" indent="0" marL="0">
              <a:lnSpc>
                <a:spcPct val="140000"/>
              </a:lnSpc>
              <a:buNone/>
            </a:pPr>
            <a:endParaRPr lang="en-US" sz="1800" dirty="0"/>
          </a:p>
        </p:txBody>
      </p:sp>
      <p:sp>
        <p:nvSpPr>
          <p:cNvPr id="1037" name="Shape 2"/>
          <p:cNvSpPr/>
          <p:nvPr/>
        </p:nvSpPr>
        <p:spPr>
          <a:xfrm>
            <a:off x="9253728" y="2569464"/>
            <a:ext cx="8083296" cy="6446520"/>
          </a:xfrm>
          <a:prstGeom prst="rect">
            <a:avLst/>
          </a:prstGeom>
          <a:solidFill>
            <a:srgbClr val="FFFFFF"/>
          </a:solidFill>
          <a:ln w="8695">
            <a:solidFill>
              <a:srgbClr val="DDD6CA"/>
            </a:solidFill>
            <a:prstDash val="solid"/>
          </a:ln>
        </p:spPr>
        <p:txBody>
          <a:bodyPr/>
          <a:p/>
        </p:txBody>
      </p:sp>
      <p:sp>
        <p:nvSpPr>
          <p:cNvPr id="1038" name="Text 3"/>
          <p:cNvSpPr/>
          <p:nvPr/>
        </p:nvSpPr>
        <p:spPr>
          <a:xfrm>
            <a:off x="9619488" y="2852928"/>
            <a:ext cx="10058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Q07</a:t>
            </a:r>
            <a:endParaRPr lang="en-US" sz="1650" dirty="0"/>
          </a:p>
        </p:txBody>
      </p:sp>
      <p:sp>
        <p:nvSpPr>
          <p:cNvPr id="1039" name="Text 3"/>
          <p:cNvSpPr/>
          <p:nvPr/>
        </p:nvSpPr>
        <p:spPr>
          <a:xfrm>
            <a:off x="9619488" y="3218688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cat. B</a:t>
            </a:r>
            <a:endParaRPr lang="en-US" sz="1650" dirty="0"/>
          </a:p>
        </p:txBody>
      </p:sp>
      <p:sp>
        <p:nvSpPr>
          <p:cNvPr id="1040" name="Text 4"/>
          <p:cNvSpPr/>
          <p:nvPr/>
        </p:nvSpPr>
        <p:spPr>
          <a:xfrm>
            <a:off x="10671048" y="2825496"/>
            <a:ext cx="63550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Players in all 8 seasons — players who appeared in every season of the dataset. COUNT DISTINCT = 8.</a:t>
            </a:r>
            <a:pPr algn="l" indent="0" marL="0">
              <a:lnSpc>
                <a:spcPct val="140000"/>
              </a:lnSpc>
              <a:buNone/>
            </a:pPr>
            <a:endParaRPr lang="en-US" sz="1800" dirty="0"/>
          </a:p>
        </p:txBody>
      </p:sp>
      <p:sp>
        <p:nvSpPr>
          <p:cNvPr id="1041" name="Text 3"/>
          <p:cNvSpPr/>
          <p:nvPr/>
        </p:nvSpPr>
        <p:spPr>
          <a:xfrm>
            <a:off x="9619488" y="3886200"/>
            <a:ext cx="10058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Q08</a:t>
            </a:r>
            <a:endParaRPr lang="en-US" sz="1650" dirty="0"/>
          </a:p>
        </p:txBody>
      </p:sp>
      <p:sp>
        <p:nvSpPr>
          <p:cNvPr id="1042" name="Text 3"/>
          <p:cNvSpPr/>
          <p:nvPr/>
        </p:nvSpPr>
        <p:spPr>
          <a:xfrm>
            <a:off x="9619488" y="4251960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cat. C</a:t>
            </a:r>
            <a:endParaRPr lang="en-US" sz="1650" dirty="0"/>
          </a:p>
        </p:txBody>
      </p:sp>
      <p:sp>
        <p:nvSpPr>
          <p:cNvPr id="1043" name="Text 4"/>
          <p:cNvSpPr/>
          <p:nvPr/>
        </p:nvSpPr>
        <p:spPr>
          <a:xfrm>
            <a:off x="10671048" y="3858768"/>
            <a:ext cx="63550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Teammates of Messi 2015/16 — players who shared a lineup with X in season Y, by shared matches.</a:t>
            </a:r>
            <a:pPr algn="l" indent="0" marL="0">
              <a:lnSpc>
                <a:spcPct val="140000"/>
              </a:lnSpc>
              <a:buNone/>
            </a:pPr>
            <a:endParaRPr lang="en-US" sz="1800" dirty="0"/>
          </a:p>
        </p:txBody>
      </p:sp>
      <p:sp>
        <p:nvSpPr>
          <p:cNvPr id="1044" name="Text 3"/>
          <p:cNvSpPr/>
          <p:nvPr/>
        </p:nvSpPr>
        <p:spPr>
          <a:xfrm>
            <a:off x="9619488" y="4919472"/>
            <a:ext cx="10058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Q09</a:t>
            </a:r>
            <a:endParaRPr lang="en-US" sz="1650" dirty="0"/>
          </a:p>
        </p:txBody>
      </p:sp>
      <p:sp>
        <p:nvSpPr>
          <p:cNvPr id="1045" name="Text 3"/>
          <p:cNvSpPr/>
          <p:nvPr/>
        </p:nvSpPr>
        <p:spPr>
          <a:xfrm>
            <a:off x="9619488" y="5285232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cat. C</a:t>
            </a:r>
            <a:endParaRPr lang="en-US" sz="1650" dirty="0"/>
          </a:p>
        </p:txBody>
      </p:sp>
      <p:sp>
        <p:nvSpPr>
          <p:cNvPr id="1046" name="Text 4"/>
          <p:cNvSpPr/>
          <p:nvPr/>
        </p:nvSpPr>
        <p:spPr>
          <a:xfrm>
            <a:off x="10671048" y="4892040"/>
            <a:ext cx="63550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2-hop teammates — teammates-of-teammates of X, ranked by shared team-seasons. Fixed depth, mv_played_for.</a:t>
            </a:r>
            <a:pPr algn="l" indent="0" marL="0">
              <a:lnSpc>
                <a:spcPct val="140000"/>
              </a:lnSpc>
              <a:buNone/>
            </a:pPr>
            <a:endParaRPr lang="en-US" sz="1800" dirty="0"/>
          </a:p>
        </p:txBody>
      </p:sp>
      <p:sp>
        <p:nvSpPr>
          <p:cNvPr id="1047" name="Text 3"/>
          <p:cNvSpPr/>
          <p:nvPr/>
        </p:nvSpPr>
        <p:spPr>
          <a:xfrm>
            <a:off x="9619488" y="5952744"/>
            <a:ext cx="10058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Q10</a:t>
            </a:r>
            <a:endParaRPr lang="en-US" sz="1650" dirty="0"/>
          </a:p>
        </p:txBody>
      </p:sp>
      <p:sp>
        <p:nvSpPr>
          <p:cNvPr id="1048" name="Text 3"/>
          <p:cNvSpPr/>
          <p:nvPr/>
        </p:nvSpPr>
        <p:spPr>
          <a:xfrm>
            <a:off x="9619488" y="6318504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cat. C</a:t>
            </a:r>
            <a:endParaRPr lang="en-US" sz="1650" dirty="0"/>
          </a:p>
        </p:txBody>
      </p:sp>
      <p:sp>
        <p:nvSpPr>
          <p:cNvPr id="1049" name="Text 4"/>
          <p:cNvSpPr/>
          <p:nvPr/>
        </p:nvSpPr>
        <p:spPr>
          <a:xfrm>
            <a:off x="10671048" y="5925312"/>
            <a:ext cx="63550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Shortest path Messi → Pirlo — degrees of separation on the teammate graph, max 6 hops. Recursive CTE vs SHORTEST 1.</a:t>
            </a:r>
            <a:pPr algn="l" indent="0" marL="0">
              <a:lnSpc>
                <a:spcPct val="140000"/>
              </a:lnSpc>
              <a:buNone/>
            </a:pPr>
            <a:endParaRPr lang="en-US" sz="1800" dirty="0"/>
          </a:p>
        </p:txBody>
      </p:sp>
      <p:sp>
        <p:nvSpPr>
          <p:cNvPr id="1050" name="Text 3"/>
          <p:cNvSpPr/>
          <p:nvPr/>
        </p:nvSpPr>
        <p:spPr>
          <a:xfrm>
            <a:off x="9619488" y="6986016"/>
            <a:ext cx="10058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Q11</a:t>
            </a:r>
            <a:endParaRPr lang="en-US" sz="1650" dirty="0"/>
          </a:p>
        </p:txBody>
      </p:sp>
      <p:sp>
        <p:nvSpPr>
          <p:cNvPr id="1051" name="Text 3"/>
          <p:cNvSpPr/>
          <p:nvPr/>
        </p:nvSpPr>
        <p:spPr>
          <a:xfrm>
            <a:off x="9619488" y="7351775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cat. D</a:t>
            </a:r>
            <a:endParaRPr lang="en-US" sz="1650" dirty="0"/>
          </a:p>
        </p:txBody>
      </p:sp>
      <p:sp>
        <p:nvSpPr>
          <p:cNvPr id="1052" name="Text 4"/>
          <p:cNvSpPr/>
          <p:nvPr/>
        </p:nvSpPr>
        <p:spPr>
          <a:xfrm>
            <a:off x="10671048" y="6958583"/>
            <a:ext cx="63550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Bulk UPDATE — lowercase the subtype of the 21,442 goal events with a known scorer. Measured to COMMIT.</a:t>
            </a:r>
            <a:pPr algn="l" indent="0" marL="0">
              <a:lnSpc>
                <a:spcPct val="140000"/>
              </a:lnSpc>
              <a:buNone/>
            </a:pPr>
            <a:endParaRPr lang="en-US" sz="1800" dirty="0"/>
          </a:p>
        </p:txBody>
      </p:sp>
      <p:sp>
        <p:nvSpPr>
          <p:cNvPr id="1053" name="Text 3"/>
          <p:cNvSpPr/>
          <p:nvPr/>
        </p:nvSpPr>
        <p:spPr>
          <a:xfrm>
            <a:off x="9619488" y="8019288"/>
            <a:ext cx="10058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Q12</a:t>
            </a:r>
            <a:endParaRPr lang="en-US" sz="1650" dirty="0"/>
          </a:p>
        </p:txBody>
      </p:sp>
      <p:sp>
        <p:nvSpPr>
          <p:cNvPr id="1054" name="Text 3"/>
          <p:cNvSpPr/>
          <p:nvPr/>
        </p:nvSpPr>
        <p:spPr>
          <a:xfrm>
            <a:off x="9619488" y="8385048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cat. D</a:t>
            </a:r>
            <a:endParaRPr lang="en-US" sz="1650" dirty="0"/>
          </a:p>
        </p:txBody>
      </p:sp>
      <p:sp>
        <p:nvSpPr>
          <p:cNvPr id="1055" name="Text 4"/>
          <p:cNvSpPr/>
          <p:nvPr/>
        </p:nvSpPr>
        <p:spPr>
          <a:xfrm>
            <a:off x="10671048" y="7991856"/>
            <a:ext cx="63550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Schema evolution — add totalGoals = home + away to all 25,979 matches. ALTER + UPDATE vs one SET.</a:t>
            </a:r>
            <a:pPr algn="l" indent="0" marL="0">
              <a:lnSpc>
                <a:spcPct val="140000"/>
              </a:lnSpc>
              <a:buNone/>
            </a:pPr>
            <a:endParaRPr lang="en-US" sz="1800" dirty="0"/>
          </a:p>
        </p:txBody>
      </p:sp>
      <p:sp>
        <p:nvSpPr>
          <p:cNvPr id="1056" name="Text 17"/>
          <p:cNvSpPr/>
          <p:nvPr/>
        </p:nvSpPr>
        <p:spPr>
          <a:xfrm>
            <a:off x="952385" y="9125712"/>
            <a:ext cx="18021508" cy="351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All 12 are parameterised, written twice (queries/sql · queries/cypher) and result-checked as multisets on every run.</a:t>
            </a:r>
            <a:endParaRPr lang="en-US" sz="1950" dirty="0"/>
          </a:p>
        </p:txBody>
      </p:sp>
      <p:sp>
        <p:nvSpPr>
          <p:cNvPr id="1057" name="Text 18"/>
          <p:cNvSpPr/>
          <p:nvPr/>
        </p:nvSpPr>
        <p:spPr>
          <a:xfrm>
            <a:off x="952385" y="9633214"/>
            <a:ext cx="632952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DM 2025/26 · D'Angelica &amp; Leone · PostgreSQL vs Neo4j</a:t>
            </a:r>
            <a:endParaRPr lang="en-US" sz="1425" dirty="0"/>
          </a:p>
        </p:txBody>
      </p:sp>
      <p:sp>
        <p:nvSpPr>
          <p:cNvPr id="1058" name="Text 19"/>
          <p:cNvSpPr/>
          <p:nvPr/>
        </p:nvSpPr>
        <p:spPr>
          <a:xfrm>
            <a:off x="16684121" y="9633214"/>
            <a:ext cx="727653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BACKUP</a:t>
            </a:r>
            <a:endParaRPr lang="en-US" sz="14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9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00" name="Text 0"/>
          <p:cNvSpPr/>
          <p:nvPr/>
        </p:nvSpPr>
        <p:spPr>
          <a:xfrm>
            <a:off x="952385" y="857146"/>
            <a:ext cx="18021508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B048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BACKUP — FULL RESULTS TABLE</a:t>
            </a:r>
            <a:endParaRPr lang="en-US" sz="1650" dirty="0"/>
          </a:p>
        </p:txBody>
      </p:sp>
      <p:sp>
        <p:nvSpPr>
          <p:cNvPr id="2001" name="Text 1"/>
          <p:cNvSpPr/>
          <p:nvPr/>
        </p:nvSpPr>
        <p:spPr>
          <a:xfrm>
            <a:off x="952385" y="1306710"/>
            <a:ext cx="18021508" cy="634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spc="-65" kern="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All twelve queries — medians of 15 runs, run_20260921_162704</a:t>
            </a:r>
            <a:endParaRPr lang="en-US" sz="4350" dirty="0"/>
          </a:p>
        </p:txBody>
      </p:sp>
      <p:sp>
        <p:nvSpPr>
          <p:cNvPr id="2002" name="Shape 2"/>
          <p:cNvSpPr/>
          <p:nvPr/>
        </p:nvSpPr>
        <p:spPr>
          <a:xfrm>
            <a:off x="950976" y="2514600"/>
            <a:ext cx="16386048" cy="5989320"/>
          </a:xfrm>
          <a:prstGeom prst="rect">
            <a:avLst/>
          </a:prstGeom>
          <a:solidFill>
            <a:srgbClr val="FFFFFF"/>
          </a:solidFill>
          <a:ln w="8695">
            <a:solidFill>
              <a:srgbClr val="DDD6CA"/>
            </a:solidFill>
            <a:prstDash val="solid"/>
          </a:ln>
        </p:spPr>
        <p:txBody>
          <a:bodyPr/>
          <a:p/>
        </p:txBody>
      </p:sp>
      <p:sp>
        <p:nvSpPr>
          <p:cNvPr id="2003" name="Text 3"/>
          <p:cNvSpPr/>
          <p:nvPr/>
        </p:nvSpPr>
        <p:spPr>
          <a:xfrm>
            <a:off x="1234440" y="2788920"/>
            <a:ext cx="8229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50" b="0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/>
            </a:r>
            <a:endParaRPr lang="en-US" sz="1650" dirty="0"/>
          </a:p>
        </p:txBody>
      </p:sp>
      <p:sp>
        <p:nvSpPr>
          <p:cNvPr id="2004" name="Text 3"/>
          <p:cNvSpPr/>
          <p:nvPr/>
        </p:nvSpPr>
        <p:spPr>
          <a:xfrm>
            <a:off x="2057400" y="2788920"/>
            <a:ext cx="4206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50" b="0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QUERY</a:t>
            </a:r>
            <a:endParaRPr lang="en-US" sz="1650" dirty="0"/>
          </a:p>
        </p:txBody>
      </p:sp>
      <p:sp>
        <p:nvSpPr>
          <p:cNvPr id="2005" name="Text 3"/>
          <p:cNvSpPr/>
          <p:nvPr/>
        </p:nvSpPr>
        <p:spPr>
          <a:xfrm>
            <a:off x="635508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50" b="0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POSTGRES</a:t>
            </a:r>
            <a:endParaRPr lang="en-US" sz="1650" dirty="0"/>
          </a:p>
        </p:txBody>
      </p:sp>
      <p:sp>
        <p:nvSpPr>
          <p:cNvPr id="2006" name="Text 3"/>
          <p:cNvSpPr/>
          <p:nvPr/>
        </p:nvSpPr>
        <p:spPr>
          <a:xfrm>
            <a:off x="790956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50" b="0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NEO4J</a:t>
            </a:r>
            <a:endParaRPr lang="en-US" sz="1650" dirty="0"/>
          </a:p>
        </p:txBody>
      </p:sp>
      <p:sp>
        <p:nvSpPr>
          <p:cNvPr id="2007" name="Text 3"/>
          <p:cNvSpPr/>
          <p:nvPr/>
        </p:nvSpPr>
        <p:spPr>
          <a:xfrm>
            <a:off x="946404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50" b="0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SPEEDUP</a:t>
            </a:r>
            <a:endParaRPr lang="en-US" sz="1650" dirty="0"/>
          </a:p>
        </p:txBody>
      </p:sp>
      <p:sp>
        <p:nvSpPr>
          <p:cNvPr id="2008" name="Text 3"/>
          <p:cNvSpPr/>
          <p:nvPr/>
        </p:nvSpPr>
        <p:spPr>
          <a:xfrm>
            <a:off x="1101852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50" b="0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WINNER</a:t>
            </a:r>
            <a:endParaRPr lang="en-US" sz="1650" dirty="0"/>
          </a:p>
        </p:txBody>
      </p:sp>
      <p:sp>
        <p:nvSpPr>
          <p:cNvPr id="2009" name="Text 3"/>
          <p:cNvSpPr/>
          <p:nvPr/>
        </p:nvSpPr>
        <p:spPr>
          <a:xfrm>
            <a:off x="1312164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50" b="0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</a:t>
            </a:r>
            <a:endParaRPr lang="en-US" sz="1650" dirty="0"/>
          </a:p>
        </p:txBody>
      </p:sp>
      <p:sp>
        <p:nvSpPr>
          <p:cNvPr id="2010" name="Text 3"/>
          <p:cNvSpPr/>
          <p:nvPr/>
        </p:nvSpPr>
        <p:spPr>
          <a:xfrm>
            <a:off x="14584680" y="2788920"/>
            <a:ext cx="10058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50" b="0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</a:t>
            </a:r>
            <a:endParaRPr lang="en-US" sz="1650" dirty="0"/>
          </a:p>
        </p:txBody>
      </p:sp>
      <p:sp>
        <p:nvSpPr>
          <p:cNvPr id="2011" name="Text 3"/>
          <p:cNvSpPr/>
          <p:nvPr/>
        </p:nvSpPr>
        <p:spPr>
          <a:xfrm>
            <a:off x="15681959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50" b="0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HOLM</a:t>
            </a:r>
            <a:endParaRPr lang="en-US" sz="1650" dirty="0"/>
          </a:p>
        </p:txBody>
      </p:sp>
      <p:sp>
        <p:nvSpPr>
          <p:cNvPr id="2012" name="Text 3"/>
          <p:cNvSpPr/>
          <p:nvPr/>
        </p:nvSpPr>
        <p:spPr>
          <a:xfrm>
            <a:off x="1234440" y="3154680"/>
            <a:ext cx="8229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Q01</a:t>
            </a:r>
            <a:endParaRPr lang="en-US" sz="1650" dirty="0"/>
          </a:p>
        </p:txBody>
      </p:sp>
      <p:sp>
        <p:nvSpPr>
          <p:cNvPr id="2013" name="Text 3"/>
          <p:cNvSpPr/>
          <p:nvPr/>
        </p:nvSpPr>
        <p:spPr>
          <a:xfrm>
            <a:off x="2057400" y="3154680"/>
            <a:ext cx="42062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Space Grotesk" pitchFamily="34" charset="0"/>
                <a:ea typeface="IBM Plex Mono" pitchFamily="34" charset="-122"/>
                <a:cs typeface="IBM Plex Mono" pitchFamily="34" charset="-120"/>
              </a:rPr>
              <a:t>Top scorers by season</a:t>
            </a:r>
            <a:endParaRPr lang="en-US" sz="1650" dirty="0"/>
          </a:p>
        </p:txBody>
      </p:sp>
      <p:sp>
        <p:nvSpPr>
          <p:cNvPr id="2014" name="Text 3"/>
          <p:cNvSpPr/>
          <p:nvPr/>
        </p:nvSpPr>
        <p:spPr>
          <a:xfrm>
            <a:off x="6355080" y="3154680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10.3 ms</a:t>
            </a:r>
            <a:endParaRPr lang="en-US" sz="1650" dirty="0"/>
          </a:p>
        </p:txBody>
      </p:sp>
      <p:sp>
        <p:nvSpPr>
          <p:cNvPr id="2015" name="Text 3"/>
          <p:cNvSpPr/>
          <p:nvPr/>
        </p:nvSpPr>
        <p:spPr>
          <a:xfrm>
            <a:off x="7909560" y="3154680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6.9 ms</a:t>
            </a:r>
            <a:endParaRPr lang="en-US" sz="1650" dirty="0"/>
          </a:p>
        </p:txBody>
      </p:sp>
      <p:sp>
        <p:nvSpPr>
          <p:cNvPr id="2016" name="Text 3"/>
          <p:cNvSpPr/>
          <p:nvPr/>
        </p:nvSpPr>
        <p:spPr>
          <a:xfrm>
            <a:off x="9464040" y="3154680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1.51×</a:t>
            </a:r>
            <a:endParaRPr lang="en-US" sz="1650" dirty="0"/>
          </a:p>
        </p:txBody>
      </p:sp>
      <p:sp>
        <p:nvSpPr>
          <p:cNvPr id="2017" name="Text 3"/>
          <p:cNvSpPr/>
          <p:nvPr/>
        </p:nvSpPr>
        <p:spPr>
          <a:xfrm>
            <a:off x="11018520" y="3154680"/>
            <a:ext cx="20116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Neo4j</a:t>
            </a:r>
            <a:endParaRPr lang="en-US" sz="1650" dirty="0"/>
          </a:p>
        </p:txBody>
      </p:sp>
      <p:sp>
        <p:nvSpPr>
          <p:cNvPr id="2018" name="Text 3"/>
          <p:cNvSpPr/>
          <p:nvPr/>
        </p:nvSpPr>
        <p:spPr>
          <a:xfrm>
            <a:off x="13121640" y="3154680"/>
            <a:ext cx="13716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 0.001</a:t>
            </a:r>
            <a:endParaRPr lang="en-US" sz="1650" dirty="0"/>
          </a:p>
        </p:txBody>
      </p:sp>
      <p:sp>
        <p:nvSpPr>
          <p:cNvPr id="2019" name="Text 3"/>
          <p:cNvSpPr/>
          <p:nvPr/>
        </p:nvSpPr>
        <p:spPr>
          <a:xfrm>
            <a:off x="14584680" y="3154680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0.75</a:t>
            </a:r>
            <a:endParaRPr lang="en-US" sz="1650" dirty="0"/>
          </a:p>
        </p:txBody>
      </p:sp>
      <p:sp>
        <p:nvSpPr>
          <p:cNvPr id="2020" name="Text 3"/>
          <p:cNvSpPr/>
          <p:nvPr/>
        </p:nvSpPr>
        <p:spPr>
          <a:xfrm>
            <a:off x="15681959" y="3154680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</a:t>
            </a:r>
            <a:endParaRPr lang="en-US" sz="1650" dirty="0"/>
          </a:p>
        </p:txBody>
      </p:sp>
      <p:sp>
        <p:nvSpPr>
          <p:cNvPr id="2021" name="Text 3"/>
          <p:cNvSpPr/>
          <p:nvPr/>
        </p:nvSpPr>
        <p:spPr>
          <a:xfrm>
            <a:off x="1234440" y="3575304"/>
            <a:ext cx="8229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Q02</a:t>
            </a:r>
            <a:endParaRPr lang="en-US" sz="1650" dirty="0"/>
          </a:p>
        </p:txBody>
      </p:sp>
      <p:sp>
        <p:nvSpPr>
          <p:cNvPr id="2022" name="Text 3"/>
          <p:cNvSpPr/>
          <p:nvPr/>
        </p:nvSpPr>
        <p:spPr>
          <a:xfrm>
            <a:off x="2057400" y="3575304"/>
            <a:ext cx="42062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Space Grotesk" pitchFamily="34" charset="0"/>
                <a:ea typeface="IBM Plex Mono" pitchFamily="34" charset="-122"/>
                <a:cs typeface="IBM Plex Mono" pitchFamily="34" charset="-120"/>
              </a:rPr>
              <a:t>League standings</a:t>
            </a:r>
            <a:endParaRPr lang="en-US" sz="1650" dirty="0"/>
          </a:p>
        </p:txBody>
      </p:sp>
      <p:sp>
        <p:nvSpPr>
          <p:cNvPr id="2023" name="Text 3"/>
          <p:cNvSpPr/>
          <p:nvPr/>
        </p:nvSpPr>
        <p:spPr>
          <a:xfrm>
            <a:off x="6355080" y="3575304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3.7 ms</a:t>
            </a:r>
            <a:endParaRPr lang="en-US" sz="1650" dirty="0"/>
          </a:p>
        </p:txBody>
      </p:sp>
      <p:sp>
        <p:nvSpPr>
          <p:cNvPr id="2024" name="Text 3"/>
          <p:cNvSpPr/>
          <p:nvPr/>
        </p:nvSpPr>
        <p:spPr>
          <a:xfrm>
            <a:off x="7909560" y="3575304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5.1 ms</a:t>
            </a:r>
            <a:endParaRPr lang="en-US" sz="1650" dirty="0"/>
          </a:p>
        </p:txBody>
      </p:sp>
      <p:sp>
        <p:nvSpPr>
          <p:cNvPr id="2025" name="Text 3"/>
          <p:cNvSpPr/>
          <p:nvPr/>
        </p:nvSpPr>
        <p:spPr>
          <a:xfrm>
            <a:off x="9464040" y="3575304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1.38×</a:t>
            </a:r>
            <a:endParaRPr lang="en-US" sz="1650" dirty="0"/>
          </a:p>
        </p:txBody>
      </p:sp>
      <p:sp>
        <p:nvSpPr>
          <p:cNvPr id="2026" name="Text 3"/>
          <p:cNvSpPr/>
          <p:nvPr/>
        </p:nvSpPr>
        <p:spPr>
          <a:xfrm>
            <a:off x="11018520" y="3575304"/>
            <a:ext cx="20116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650" dirty="0"/>
          </a:p>
        </p:txBody>
      </p:sp>
      <p:sp>
        <p:nvSpPr>
          <p:cNvPr id="2027" name="Text 3"/>
          <p:cNvSpPr/>
          <p:nvPr/>
        </p:nvSpPr>
        <p:spPr>
          <a:xfrm>
            <a:off x="13121640" y="3575304"/>
            <a:ext cx="13716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0.229</a:t>
            </a:r>
            <a:endParaRPr lang="en-US" sz="1650" dirty="0"/>
          </a:p>
        </p:txBody>
      </p:sp>
      <p:sp>
        <p:nvSpPr>
          <p:cNvPr id="2028" name="Text 3"/>
          <p:cNvSpPr/>
          <p:nvPr/>
        </p:nvSpPr>
        <p:spPr>
          <a:xfrm>
            <a:off x="14584680" y="3575304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0.26</a:t>
            </a:r>
            <a:endParaRPr lang="en-US" sz="1650" dirty="0"/>
          </a:p>
        </p:txBody>
      </p:sp>
      <p:sp>
        <p:nvSpPr>
          <p:cNvPr id="2029" name="Text 3"/>
          <p:cNvSpPr/>
          <p:nvPr/>
        </p:nvSpPr>
        <p:spPr>
          <a:xfrm>
            <a:off x="15681959" y="3575304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B048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</a:t>
            </a:r>
            <a:endParaRPr lang="en-US" sz="1650" dirty="0"/>
          </a:p>
        </p:txBody>
      </p:sp>
      <p:sp>
        <p:nvSpPr>
          <p:cNvPr id="2030" name="Text 3"/>
          <p:cNvSpPr/>
          <p:nvPr/>
        </p:nvSpPr>
        <p:spPr>
          <a:xfrm>
            <a:off x="1234440" y="3995928"/>
            <a:ext cx="8229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Q03</a:t>
            </a:r>
            <a:endParaRPr lang="en-US" sz="1650" dirty="0"/>
          </a:p>
        </p:txBody>
      </p:sp>
      <p:sp>
        <p:nvSpPr>
          <p:cNvPr id="2031" name="Text 3"/>
          <p:cNvSpPr/>
          <p:nvPr/>
        </p:nvSpPr>
        <p:spPr>
          <a:xfrm>
            <a:off x="2057400" y="3995928"/>
            <a:ext cx="42062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Space Grotesk" pitchFamily="34" charset="0"/>
                <a:ea typeface="IBM Plex Mono" pitchFamily="34" charset="-122"/>
                <a:cs typeface="IBM Plex Mono" pitchFamily="34" charset="-120"/>
              </a:rPr>
              <a:t>Goals per match by league</a:t>
            </a:r>
            <a:endParaRPr lang="en-US" sz="1650" dirty="0"/>
          </a:p>
        </p:txBody>
      </p:sp>
      <p:sp>
        <p:nvSpPr>
          <p:cNvPr id="2032" name="Text 3"/>
          <p:cNvSpPr/>
          <p:nvPr/>
        </p:nvSpPr>
        <p:spPr>
          <a:xfrm>
            <a:off x="6355080" y="3995928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8.3 ms</a:t>
            </a:r>
            <a:endParaRPr lang="en-US" sz="1650" dirty="0"/>
          </a:p>
        </p:txBody>
      </p:sp>
      <p:sp>
        <p:nvSpPr>
          <p:cNvPr id="2033" name="Text 3"/>
          <p:cNvSpPr/>
          <p:nvPr/>
        </p:nvSpPr>
        <p:spPr>
          <a:xfrm>
            <a:off x="7909560" y="3995928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5.4 ms</a:t>
            </a:r>
            <a:endParaRPr lang="en-US" sz="1650" dirty="0"/>
          </a:p>
        </p:txBody>
      </p:sp>
      <p:sp>
        <p:nvSpPr>
          <p:cNvPr id="2034" name="Text 3"/>
          <p:cNvSpPr/>
          <p:nvPr/>
        </p:nvSpPr>
        <p:spPr>
          <a:xfrm>
            <a:off x="9464040" y="3995928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1.54×</a:t>
            </a:r>
            <a:endParaRPr lang="en-US" sz="1650" dirty="0"/>
          </a:p>
        </p:txBody>
      </p:sp>
      <p:sp>
        <p:nvSpPr>
          <p:cNvPr id="2035" name="Text 3"/>
          <p:cNvSpPr/>
          <p:nvPr/>
        </p:nvSpPr>
        <p:spPr>
          <a:xfrm>
            <a:off x="11018520" y="3995928"/>
            <a:ext cx="20116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Neo4j</a:t>
            </a:r>
            <a:endParaRPr lang="en-US" sz="1650" dirty="0"/>
          </a:p>
        </p:txBody>
      </p:sp>
      <p:sp>
        <p:nvSpPr>
          <p:cNvPr id="2036" name="Text 3"/>
          <p:cNvSpPr/>
          <p:nvPr/>
        </p:nvSpPr>
        <p:spPr>
          <a:xfrm>
            <a:off x="13121640" y="3995928"/>
            <a:ext cx="13716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0.028</a:t>
            </a:r>
            <a:endParaRPr lang="en-US" sz="1650" dirty="0"/>
          </a:p>
        </p:txBody>
      </p:sp>
      <p:sp>
        <p:nvSpPr>
          <p:cNvPr id="2037" name="Text 3"/>
          <p:cNvSpPr/>
          <p:nvPr/>
        </p:nvSpPr>
        <p:spPr>
          <a:xfrm>
            <a:off x="14584680" y="3995928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0.47</a:t>
            </a:r>
            <a:endParaRPr lang="en-US" sz="1650" dirty="0"/>
          </a:p>
        </p:txBody>
      </p:sp>
      <p:sp>
        <p:nvSpPr>
          <p:cNvPr id="2038" name="Text 3"/>
          <p:cNvSpPr/>
          <p:nvPr/>
        </p:nvSpPr>
        <p:spPr>
          <a:xfrm>
            <a:off x="15681959" y="3995928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B048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</a:t>
            </a:r>
            <a:endParaRPr lang="en-US" sz="1650" dirty="0"/>
          </a:p>
        </p:txBody>
      </p:sp>
      <p:sp>
        <p:nvSpPr>
          <p:cNvPr id="2039" name="Text 3"/>
          <p:cNvSpPr/>
          <p:nvPr/>
        </p:nvSpPr>
        <p:spPr>
          <a:xfrm>
            <a:off x="1234440" y="4416552"/>
            <a:ext cx="8229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Q04</a:t>
            </a:r>
            <a:endParaRPr lang="en-US" sz="1650" dirty="0"/>
          </a:p>
        </p:txBody>
      </p:sp>
      <p:sp>
        <p:nvSpPr>
          <p:cNvPr id="2040" name="Text 3"/>
          <p:cNvSpPr/>
          <p:nvPr/>
        </p:nvSpPr>
        <p:spPr>
          <a:xfrm>
            <a:off x="2057400" y="4416552"/>
            <a:ext cx="42062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Space Grotesk" pitchFamily="34" charset="0"/>
                <a:ea typeface="IBM Plex Mono" pitchFamily="34" charset="-122"/>
                <a:cs typeface="IBM Plex Mono" pitchFamily="34" charset="-120"/>
              </a:rPr>
              <a:t>Home win % by team</a:t>
            </a:r>
            <a:endParaRPr lang="en-US" sz="1650" dirty="0"/>
          </a:p>
        </p:txBody>
      </p:sp>
      <p:sp>
        <p:nvSpPr>
          <p:cNvPr id="2041" name="Text 3"/>
          <p:cNvSpPr/>
          <p:nvPr/>
        </p:nvSpPr>
        <p:spPr>
          <a:xfrm>
            <a:off x="6355080" y="4416552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15.9 ms</a:t>
            </a:r>
            <a:endParaRPr lang="en-US" sz="1650" dirty="0"/>
          </a:p>
        </p:txBody>
      </p:sp>
      <p:sp>
        <p:nvSpPr>
          <p:cNvPr id="2042" name="Text 3"/>
          <p:cNvSpPr/>
          <p:nvPr/>
        </p:nvSpPr>
        <p:spPr>
          <a:xfrm>
            <a:off x="7909560" y="4416552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20.7 ms</a:t>
            </a:r>
            <a:endParaRPr lang="en-US" sz="1650" dirty="0"/>
          </a:p>
        </p:txBody>
      </p:sp>
      <p:sp>
        <p:nvSpPr>
          <p:cNvPr id="2043" name="Text 3"/>
          <p:cNvSpPr/>
          <p:nvPr/>
        </p:nvSpPr>
        <p:spPr>
          <a:xfrm>
            <a:off x="9464040" y="4416552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1.30×</a:t>
            </a:r>
            <a:endParaRPr lang="en-US" sz="1650" dirty="0"/>
          </a:p>
        </p:txBody>
      </p:sp>
      <p:sp>
        <p:nvSpPr>
          <p:cNvPr id="2044" name="Text 3"/>
          <p:cNvSpPr/>
          <p:nvPr/>
        </p:nvSpPr>
        <p:spPr>
          <a:xfrm>
            <a:off x="11018520" y="4416552"/>
            <a:ext cx="20116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Postgres</a:t>
            </a:r>
            <a:endParaRPr lang="en-US" sz="1650" dirty="0"/>
          </a:p>
        </p:txBody>
      </p:sp>
      <p:sp>
        <p:nvSpPr>
          <p:cNvPr id="2045" name="Text 3"/>
          <p:cNvSpPr/>
          <p:nvPr/>
        </p:nvSpPr>
        <p:spPr>
          <a:xfrm>
            <a:off x="13121640" y="4416552"/>
            <a:ext cx="13716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0.004</a:t>
            </a:r>
            <a:endParaRPr lang="en-US" sz="1650" dirty="0"/>
          </a:p>
        </p:txBody>
      </p:sp>
      <p:sp>
        <p:nvSpPr>
          <p:cNvPr id="2046" name="Text 3"/>
          <p:cNvSpPr/>
          <p:nvPr/>
        </p:nvSpPr>
        <p:spPr>
          <a:xfrm>
            <a:off x="14584680" y="4416552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0.61</a:t>
            </a:r>
            <a:endParaRPr lang="en-US" sz="1650" dirty="0"/>
          </a:p>
        </p:txBody>
      </p:sp>
      <p:sp>
        <p:nvSpPr>
          <p:cNvPr id="2047" name="Text 3"/>
          <p:cNvSpPr/>
          <p:nvPr/>
        </p:nvSpPr>
        <p:spPr>
          <a:xfrm>
            <a:off x="15681959" y="4416552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</a:t>
            </a:r>
            <a:endParaRPr lang="en-US" sz="1650" dirty="0"/>
          </a:p>
        </p:txBody>
      </p:sp>
      <p:sp>
        <p:nvSpPr>
          <p:cNvPr id="2048" name="Text 3"/>
          <p:cNvSpPr/>
          <p:nvPr/>
        </p:nvSpPr>
        <p:spPr>
          <a:xfrm>
            <a:off x="1234440" y="4837176"/>
            <a:ext cx="8229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Q05</a:t>
            </a:r>
            <a:endParaRPr lang="en-US" sz="1650" dirty="0"/>
          </a:p>
        </p:txBody>
      </p:sp>
      <p:sp>
        <p:nvSpPr>
          <p:cNvPr id="2049" name="Text 3"/>
          <p:cNvSpPr/>
          <p:nvPr/>
        </p:nvSpPr>
        <p:spPr>
          <a:xfrm>
            <a:off x="2057400" y="4837176"/>
            <a:ext cx="42062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Space Grotesk" pitchFamily="34" charset="0"/>
                <a:ea typeface="IBM Plex Mono" pitchFamily="34" charset="-122"/>
                <a:cs typeface="IBM Plex Mono" pitchFamily="34" charset="-120"/>
              </a:rPr>
              <a:t>Goal-assist partnerships</a:t>
            </a:r>
            <a:endParaRPr lang="en-US" sz="1650" dirty="0"/>
          </a:p>
        </p:txBody>
      </p:sp>
      <p:sp>
        <p:nvSpPr>
          <p:cNvPr id="2050" name="Text 3"/>
          <p:cNvSpPr/>
          <p:nvPr/>
        </p:nvSpPr>
        <p:spPr>
          <a:xfrm>
            <a:off x="6355080" y="4837176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61.5 ms</a:t>
            </a:r>
            <a:endParaRPr lang="en-US" sz="1650" dirty="0"/>
          </a:p>
        </p:txBody>
      </p:sp>
      <p:sp>
        <p:nvSpPr>
          <p:cNvPr id="2051" name="Text 3"/>
          <p:cNvSpPr/>
          <p:nvPr/>
        </p:nvSpPr>
        <p:spPr>
          <a:xfrm>
            <a:off x="7909560" y="4837176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38.1 ms</a:t>
            </a:r>
            <a:endParaRPr lang="en-US" sz="1650" dirty="0"/>
          </a:p>
        </p:txBody>
      </p:sp>
      <p:sp>
        <p:nvSpPr>
          <p:cNvPr id="2052" name="Text 3"/>
          <p:cNvSpPr/>
          <p:nvPr/>
        </p:nvSpPr>
        <p:spPr>
          <a:xfrm>
            <a:off x="9464040" y="4837176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1.62×</a:t>
            </a:r>
            <a:endParaRPr lang="en-US" sz="1650" dirty="0"/>
          </a:p>
        </p:txBody>
      </p:sp>
      <p:sp>
        <p:nvSpPr>
          <p:cNvPr id="2053" name="Text 3"/>
          <p:cNvSpPr/>
          <p:nvPr/>
        </p:nvSpPr>
        <p:spPr>
          <a:xfrm>
            <a:off x="11018520" y="4837176"/>
            <a:ext cx="20116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Neo4j</a:t>
            </a:r>
            <a:endParaRPr lang="en-US" sz="1650" dirty="0"/>
          </a:p>
        </p:txBody>
      </p:sp>
      <p:sp>
        <p:nvSpPr>
          <p:cNvPr id="2054" name="Text 3"/>
          <p:cNvSpPr/>
          <p:nvPr/>
        </p:nvSpPr>
        <p:spPr>
          <a:xfrm>
            <a:off x="13121640" y="4837176"/>
            <a:ext cx="13716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 0.001</a:t>
            </a:r>
            <a:endParaRPr lang="en-US" sz="1650" dirty="0"/>
          </a:p>
        </p:txBody>
      </p:sp>
      <p:sp>
        <p:nvSpPr>
          <p:cNvPr id="2055" name="Text 3"/>
          <p:cNvSpPr/>
          <p:nvPr/>
        </p:nvSpPr>
        <p:spPr>
          <a:xfrm>
            <a:off x="14584680" y="4837176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0.86</a:t>
            </a:r>
            <a:endParaRPr lang="en-US" sz="1650" dirty="0"/>
          </a:p>
        </p:txBody>
      </p:sp>
      <p:sp>
        <p:nvSpPr>
          <p:cNvPr id="2056" name="Text 3"/>
          <p:cNvSpPr/>
          <p:nvPr/>
        </p:nvSpPr>
        <p:spPr>
          <a:xfrm>
            <a:off x="15681959" y="4837176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</a:t>
            </a:r>
            <a:endParaRPr lang="en-US" sz="1650" dirty="0"/>
          </a:p>
        </p:txBody>
      </p:sp>
      <p:sp>
        <p:nvSpPr>
          <p:cNvPr id="2057" name="Text 3"/>
          <p:cNvSpPr/>
          <p:nvPr/>
        </p:nvSpPr>
        <p:spPr>
          <a:xfrm>
            <a:off x="1234440" y="5257800"/>
            <a:ext cx="8229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Q06</a:t>
            </a:r>
            <a:endParaRPr lang="en-US" sz="1650" dirty="0"/>
          </a:p>
        </p:txBody>
      </p:sp>
      <p:sp>
        <p:nvSpPr>
          <p:cNvPr id="2058" name="Text 3"/>
          <p:cNvSpPr/>
          <p:nvPr/>
        </p:nvSpPr>
        <p:spPr>
          <a:xfrm>
            <a:off x="2057400" y="5257800"/>
            <a:ext cx="42062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Space Grotesk" pitchFamily="34" charset="0"/>
                <a:ea typeface="IBM Plex Mono" pitchFamily="34" charset="-122"/>
                <a:cs typeface="IBM Plex Mono" pitchFamily="34" charset="-120"/>
              </a:rPr>
              <a:t>Cards vs Real Madrid</a:t>
            </a:r>
            <a:endParaRPr lang="en-US" sz="1650" dirty="0"/>
          </a:p>
        </p:txBody>
      </p:sp>
      <p:sp>
        <p:nvSpPr>
          <p:cNvPr id="2059" name="Text 3"/>
          <p:cNvSpPr/>
          <p:nvPr/>
        </p:nvSpPr>
        <p:spPr>
          <a:xfrm>
            <a:off x="6355080" y="5257800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21.8 ms</a:t>
            </a:r>
            <a:endParaRPr lang="en-US" sz="1650" dirty="0"/>
          </a:p>
        </p:txBody>
      </p:sp>
      <p:sp>
        <p:nvSpPr>
          <p:cNvPr id="2060" name="Text 3"/>
          <p:cNvSpPr/>
          <p:nvPr/>
        </p:nvSpPr>
        <p:spPr>
          <a:xfrm>
            <a:off x="7909560" y="5257800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7.6 ms</a:t>
            </a:r>
            <a:endParaRPr lang="en-US" sz="1650" dirty="0"/>
          </a:p>
        </p:txBody>
      </p:sp>
      <p:sp>
        <p:nvSpPr>
          <p:cNvPr id="2061" name="Text 3"/>
          <p:cNvSpPr/>
          <p:nvPr/>
        </p:nvSpPr>
        <p:spPr>
          <a:xfrm>
            <a:off x="9464040" y="5257800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2.85×</a:t>
            </a:r>
            <a:endParaRPr lang="en-US" sz="1650" dirty="0"/>
          </a:p>
        </p:txBody>
      </p:sp>
      <p:sp>
        <p:nvSpPr>
          <p:cNvPr id="2062" name="Text 3"/>
          <p:cNvSpPr/>
          <p:nvPr/>
        </p:nvSpPr>
        <p:spPr>
          <a:xfrm>
            <a:off x="11018520" y="5257800"/>
            <a:ext cx="20116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Neo4j</a:t>
            </a:r>
            <a:endParaRPr lang="en-US" sz="1650" dirty="0"/>
          </a:p>
        </p:txBody>
      </p:sp>
      <p:sp>
        <p:nvSpPr>
          <p:cNvPr id="2063" name="Text 3"/>
          <p:cNvSpPr/>
          <p:nvPr/>
        </p:nvSpPr>
        <p:spPr>
          <a:xfrm>
            <a:off x="13121640" y="5257800"/>
            <a:ext cx="13716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 0.001</a:t>
            </a:r>
            <a:endParaRPr lang="en-US" sz="1650" dirty="0"/>
          </a:p>
        </p:txBody>
      </p:sp>
      <p:sp>
        <p:nvSpPr>
          <p:cNvPr id="2064" name="Text 3"/>
          <p:cNvSpPr/>
          <p:nvPr/>
        </p:nvSpPr>
        <p:spPr>
          <a:xfrm>
            <a:off x="14584680" y="5257800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</a:t>
            </a:r>
            <a:endParaRPr lang="en-US" sz="1650" dirty="0"/>
          </a:p>
        </p:txBody>
      </p:sp>
      <p:sp>
        <p:nvSpPr>
          <p:cNvPr id="2065" name="Text 3"/>
          <p:cNvSpPr/>
          <p:nvPr/>
        </p:nvSpPr>
        <p:spPr>
          <a:xfrm>
            <a:off x="15681959" y="5257800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</a:t>
            </a:r>
            <a:endParaRPr lang="en-US" sz="1650" dirty="0"/>
          </a:p>
        </p:txBody>
      </p:sp>
      <p:sp>
        <p:nvSpPr>
          <p:cNvPr id="2066" name="Text 3"/>
          <p:cNvSpPr/>
          <p:nvPr/>
        </p:nvSpPr>
        <p:spPr>
          <a:xfrm>
            <a:off x="1234440" y="5678424"/>
            <a:ext cx="8229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Q07</a:t>
            </a:r>
            <a:endParaRPr lang="en-US" sz="1650" dirty="0"/>
          </a:p>
        </p:txBody>
      </p:sp>
      <p:sp>
        <p:nvSpPr>
          <p:cNvPr id="2067" name="Text 3"/>
          <p:cNvSpPr/>
          <p:nvPr/>
        </p:nvSpPr>
        <p:spPr>
          <a:xfrm>
            <a:off x="2057400" y="5678424"/>
            <a:ext cx="42062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Space Grotesk" pitchFamily="34" charset="0"/>
                <a:ea typeface="IBM Plex Mono" pitchFamily="34" charset="-122"/>
                <a:cs typeface="IBM Plex Mono" pitchFamily="34" charset="-120"/>
              </a:rPr>
              <a:t>Players in all 8 seasons</a:t>
            </a:r>
            <a:endParaRPr lang="en-US" sz="1650" dirty="0"/>
          </a:p>
        </p:txBody>
      </p:sp>
      <p:sp>
        <p:nvSpPr>
          <p:cNvPr id="2068" name="Text 3"/>
          <p:cNvSpPr/>
          <p:nvPr/>
        </p:nvSpPr>
        <p:spPr>
          <a:xfrm>
            <a:off x="6355080" y="5678424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400.2 ms</a:t>
            </a:r>
            <a:endParaRPr lang="en-US" sz="1650" dirty="0"/>
          </a:p>
        </p:txBody>
      </p:sp>
      <p:sp>
        <p:nvSpPr>
          <p:cNvPr id="2069" name="Text 3"/>
          <p:cNvSpPr/>
          <p:nvPr/>
        </p:nvSpPr>
        <p:spPr>
          <a:xfrm>
            <a:off x="7909560" y="5678424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216.1 ms</a:t>
            </a:r>
            <a:endParaRPr lang="en-US" sz="1650" dirty="0"/>
          </a:p>
        </p:txBody>
      </p:sp>
      <p:sp>
        <p:nvSpPr>
          <p:cNvPr id="2070" name="Text 3"/>
          <p:cNvSpPr/>
          <p:nvPr/>
        </p:nvSpPr>
        <p:spPr>
          <a:xfrm>
            <a:off x="9464040" y="5678424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1.85×</a:t>
            </a:r>
            <a:endParaRPr lang="en-US" sz="1650" dirty="0"/>
          </a:p>
        </p:txBody>
      </p:sp>
      <p:sp>
        <p:nvSpPr>
          <p:cNvPr id="2071" name="Text 3"/>
          <p:cNvSpPr/>
          <p:nvPr/>
        </p:nvSpPr>
        <p:spPr>
          <a:xfrm>
            <a:off x="11018520" y="5678424"/>
            <a:ext cx="20116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Neo4j</a:t>
            </a:r>
            <a:endParaRPr lang="en-US" sz="1650" dirty="0"/>
          </a:p>
        </p:txBody>
      </p:sp>
      <p:sp>
        <p:nvSpPr>
          <p:cNvPr id="2072" name="Text 3"/>
          <p:cNvSpPr/>
          <p:nvPr/>
        </p:nvSpPr>
        <p:spPr>
          <a:xfrm>
            <a:off x="13121640" y="5678424"/>
            <a:ext cx="13716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 0.001</a:t>
            </a:r>
            <a:endParaRPr lang="en-US" sz="1650" dirty="0"/>
          </a:p>
        </p:txBody>
      </p:sp>
      <p:sp>
        <p:nvSpPr>
          <p:cNvPr id="2073" name="Text 3"/>
          <p:cNvSpPr/>
          <p:nvPr/>
        </p:nvSpPr>
        <p:spPr>
          <a:xfrm>
            <a:off x="14584680" y="5678424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</a:t>
            </a:r>
            <a:endParaRPr lang="en-US" sz="1650" dirty="0"/>
          </a:p>
        </p:txBody>
      </p:sp>
      <p:sp>
        <p:nvSpPr>
          <p:cNvPr id="2074" name="Text 3"/>
          <p:cNvSpPr/>
          <p:nvPr/>
        </p:nvSpPr>
        <p:spPr>
          <a:xfrm>
            <a:off x="15681959" y="5678424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</a:t>
            </a:r>
            <a:endParaRPr lang="en-US" sz="1650" dirty="0"/>
          </a:p>
        </p:txBody>
      </p:sp>
      <p:sp>
        <p:nvSpPr>
          <p:cNvPr id="2075" name="Text 3"/>
          <p:cNvSpPr/>
          <p:nvPr/>
        </p:nvSpPr>
        <p:spPr>
          <a:xfrm>
            <a:off x="1234440" y="6099048"/>
            <a:ext cx="8229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Q08</a:t>
            </a:r>
            <a:endParaRPr lang="en-US" sz="1650" dirty="0"/>
          </a:p>
        </p:txBody>
      </p:sp>
      <p:sp>
        <p:nvSpPr>
          <p:cNvPr id="2076" name="Text 3"/>
          <p:cNvSpPr/>
          <p:nvPr/>
        </p:nvSpPr>
        <p:spPr>
          <a:xfrm>
            <a:off x="2057400" y="6099048"/>
            <a:ext cx="42062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Space Grotesk" pitchFamily="34" charset="0"/>
                <a:ea typeface="IBM Plex Mono" pitchFamily="34" charset="-122"/>
                <a:cs typeface="IBM Plex Mono" pitchFamily="34" charset="-120"/>
              </a:rPr>
              <a:t>Teammates of Messi 2015/16</a:t>
            </a:r>
            <a:endParaRPr lang="en-US" sz="1650" dirty="0"/>
          </a:p>
        </p:txBody>
      </p:sp>
      <p:sp>
        <p:nvSpPr>
          <p:cNvPr id="2077" name="Text 3"/>
          <p:cNvSpPr/>
          <p:nvPr/>
        </p:nvSpPr>
        <p:spPr>
          <a:xfrm>
            <a:off x="6355080" y="6099048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7.0 ms</a:t>
            </a:r>
            <a:endParaRPr lang="en-US" sz="1650" dirty="0"/>
          </a:p>
        </p:txBody>
      </p:sp>
      <p:sp>
        <p:nvSpPr>
          <p:cNvPr id="2078" name="Text 3"/>
          <p:cNvSpPr/>
          <p:nvPr/>
        </p:nvSpPr>
        <p:spPr>
          <a:xfrm>
            <a:off x="7909560" y="6099048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 ms</a:t>
            </a:r>
            <a:endParaRPr lang="en-US" sz="1650" dirty="0"/>
          </a:p>
        </p:txBody>
      </p:sp>
      <p:sp>
        <p:nvSpPr>
          <p:cNvPr id="2079" name="Text 3"/>
          <p:cNvSpPr/>
          <p:nvPr/>
        </p:nvSpPr>
        <p:spPr>
          <a:xfrm>
            <a:off x="9464040" y="6099048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1.66×</a:t>
            </a:r>
            <a:endParaRPr lang="en-US" sz="1650" dirty="0"/>
          </a:p>
        </p:txBody>
      </p:sp>
      <p:sp>
        <p:nvSpPr>
          <p:cNvPr id="2080" name="Text 3"/>
          <p:cNvSpPr/>
          <p:nvPr/>
        </p:nvSpPr>
        <p:spPr>
          <a:xfrm>
            <a:off x="11018520" y="6099048"/>
            <a:ext cx="20116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Neo4j</a:t>
            </a:r>
            <a:endParaRPr lang="en-US" sz="1650" dirty="0"/>
          </a:p>
        </p:txBody>
      </p:sp>
      <p:sp>
        <p:nvSpPr>
          <p:cNvPr id="2081" name="Text 3"/>
          <p:cNvSpPr/>
          <p:nvPr/>
        </p:nvSpPr>
        <p:spPr>
          <a:xfrm>
            <a:off x="13121640" y="6099048"/>
            <a:ext cx="13716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 0.001</a:t>
            </a:r>
            <a:endParaRPr lang="en-US" sz="1650" dirty="0"/>
          </a:p>
        </p:txBody>
      </p:sp>
      <p:sp>
        <p:nvSpPr>
          <p:cNvPr id="2082" name="Text 3"/>
          <p:cNvSpPr/>
          <p:nvPr/>
        </p:nvSpPr>
        <p:spPr>
          <a:xfrm>
            <a:off x="14584680" y="6099048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0.93</a:t>
            </a:r>
            <a:endParaRPr lang="en-US" sz="1650" dirty="0"/>
          </a:p>
        </p:txBody>
      </p:sp>
      <p:sp>
        <p:nvSpPr>
          <p:cNvPr id="2083" name="Text 3"/>
          <p:cNvSpPr/>
          <p:nvPr/>
        </p:nvSpPr>
        <p:spPr>
          <a:xfrm>
            <a:off x="15681959" y="6099048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</a:t>
            </a:r>
            <a:endParaRPr lang="en-US" sz="1650" dirty="0"/>
          </a:p>
        </p:txBody>
      </p:sp>
      <p:sp>
        <p:nvSpPr>
          <p:cNvPr id="2084" name="Text 3"/>
          <p:cNvSpPr/>
          <p:nvPr/>
        </p:nvSpPr>
        <p:spPr>
          <a:xfrm>
            <a:off x="1234440" y="6519672"/>
            <a:ext cx="8229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Q09</a:t>
            </a:r>
            <a:endParaRPr lang="en-US" sz="1650" dirty="0"/>
          </a:p>
        </p:txBody>
      </p:sp>
      <p:sp>
        <p:nvSpPr>
          <p:cNvPr id="2085" name="Text 3"/>
          <p:cNvSpPr/>
          <p:nvPr/>
        </p:nvSpPr>
        <p:spPr>
          <a:xfrm>
            <a:off x="2057400" y="6519672"/>
            <a:ext cx="42062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Space Grotesk" pitchFamily="34" charset="0"/>
                <a:ea typeface="IBM Plex Mono" pitchFamily="34" charset="-122"/>
                <a:cs typeface="IBM Plex Mono" pitchFamily="34" charset="-120"/>
              </a:rPr>
              <a:t>2-hop teammates of Messi</a:t>
            </a:r>
            <a:endParaRPr lang="en-US" sz="1650" dirty="0"/>
          </a:p>
        </p:txBody>
      </p:sp>
      <p:sp>
        <p:nvSpPr>
          <p:cNvPr id="2086" name="Text 3"/>
          <p:cNvSpPr/>
          <p:nvPr/>
        </p:nvSpPr>
        <p:spPr>
          <a:xfrm>
            <a:off x="6355080" y="6519672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28.9 ms</a:t>
            </a:r>
            <a:endParaRPr lang="en-US" sz="1650" dirty="0"/>
          </a:p>
        </p:txBody>
      </p:sp>
      <p:sp>
        <p:nvSpPr>
          <p:cNvPr id="2087" name="Text 3"/>
          <p:cNvSpPr/>
          <p:nvPr/>
        </p:nvSpPr>
        <p:spPr>
          <a:xfrm>
            <a:off x="7909560" y="6519672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77.6 ms</a:t>
            </a:r>
            <a:endParaRPr lang="en-US" sz="1650" dirty="0"/>
          </a:p>
        </p:txBody>
      </p:sp>
      <p:sp>
        <p:nvSpPr>
          <p:cNvPr id="2088" name="Text 3"/>
          <p:cNvSpPr/>
          <p:nvPr/>
        </p:nvSpPr>
        <p:spPr>
          <a:xfrm>
            <a:off x="9464040" y="6519672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2.68×</a:t>
            </a:r>
            <a:endParaRPr lang="en-US" sz="1650" dirty="0"/>
          </a:p>
        </p:txBody>
      </p:sp>
      <p:sp>
        <p:nvSpPr>
          <p:cNvPr id="2089" name="Text 3"/>
          <p:cNvSpPr/>
          <p:nvPr/>
        </p:nvSpPr>
        <p:spPr>
          <a:xfrm>
            <a:off x="11018520" y="6519672"/>
            <a:ext cx="20116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Postgres</a:t>
            </a:r>
            <a:endParaRPr lang="en-US" sz="1650" dirty="0"/>
          </a:p>
        </p:txBody>
      </p:sp>
      <p:sp>
        <p:nvSpPr>
          <p:cNvPr id="2090" name="Text 3"/>
          <p:cNvSpPr/>
          <p:nvPr/>
        </p:nvSpPr>
        <p:spPr>
          <a:xfrm>
            <a:off x="13121640" y="6519672"/>
            <a:ext cx="13716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 0.001</a:t>
            </a:r>
            <a:endParaRPr lang="en-US" sz="1650" dirty="0"/>
          </a:p>
        </p:txBody>
      </p:sp>
      <p:sp>
        <p:nvSpPr>
          <p:cNvPr id="2091" name="Text 3"/>
          <p:cNvSpPr/>
          <p:nvPr/>
        </p:nvSpPr>
        <p:spPr>
          <a:xfrm>
            <a:off x="14584680" y="6519672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</a:t>
            </a:r>
            <a:endParaRPr lang="en-US" sz="1650" dirty="0"/>
          </a:p>
        </p:txBody>
      </p:sp>
      <p:sp>
        <p:nvSpPr>
          <p:cNvPr id="2092" name="Text 3"/>
          <p:cNvSpPr/>
          <p:nvPr/>
        </p:nvSpPr>
        <p:spPr>
          <a:xfrm>
            <a:off x="15681959" y="6519672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</a:t>
            </a:r>
            <a:endParaRPr lang="en-US" sz="1650" dirty="0"/>
          </a:p>
        </p:txBody>
      </p:sp>
      <p:sp>
        <p:nvSpPr>
          <p:cNvPr id="2093" name="Text 3"/>
          <p:cNvSpPr/>
          <p:nvPr/>
        </p:nvSpPr>
        <p:spPr>
          <a:xfrm>
            <a:off x="1234440" y="6940296"/>
            <a:ext cx="8229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Q10</a:t>
            </a:r>
            <a:endParaRPr lang="en-US" sz="1650" dirty="0"/>
          </a:p>
        </p:txBody>
      </p:sp>
      <p:sp>
        <p:nvSpPr>
          <p:cNvPr id="2094" name="Text 3"/>
          <p:cNvSpPr/>
          <p:nvPr/>
        </p:nvSpPr>
        <p:spPr>
          <a:xfrm>
            <a:off x="2057400" y="6940296"/>
            <a:ext cx="42062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Space Grotesk" pitchFamily="34" charset="0"/>
                <a:ea typeface="IBM Plex Mono" pitchFamily="34" charset="-122"/>
                <a:cs typeface="IBM Plex Mono" pitchFamily="34" charset="-120"/>
              </a:rPr>
              <a:t>Shortest path Messi → Pirlo</a:t>
            </a:r>
            <a:endParaRPr lang="en-US" sz="1650" dirty="0"/>
          </a:p>
        </p:txBody>
      </p:sp>
      <p:sp>
        <p:nvSpPr>
          <p:cNvPr id="2095" name="Text 3"/>
          <p:cNvSpPr/>
          <p:nvPr/>
        </p:nvSpPr>
        <p:spPr>
          <a:xfrm>
            <a:off x="6355080" y="6940296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792.1 ms</a:t>
            </a:r>
            <a:endParaRPr lang="en-US" sz="1650" dirty="0"/>
          </a:p>
        </p:txBody>
      </p:sp>
      <p:sp>
        <p:nvSpPr>
          <p:cNvPr id="2096" name="Text 3"/>
          <p:cNvSpPr/>
          <p:nvPr/>
        </p:nvSpPr>
        <p:spPr>
          <a:xfrm>
            <a:off x="7909560" y="6940296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14.4 ms</a:t>
            </a:r>
            <a:endParaRPr lang="en-US" sz="1650" dirty="0"/>
          </a:p>
        </p:txBody>
      </p:sp>
      <p:sp>
        <p:nvSpPr>
          <p:cNvPr id="2097" name="Text 3"/>
          <p:cNvSpPr/>
          <p:nvPr/>
        </p:nvSpPr>
        <p:spPr>
          <a:xfrm>
            <a:off x="9464040" y="6940296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54.89×</a:t>
            </a:r>
            <a:endParaRPr lang="en-US" sz="1650" dirty="0"/>
          </a:p>
        </p:txBody>
      </p:sp>
      <p:sp>
        <p:nvSpPr>
          <p:cNvPr id="2098" name="Text 3"/>
          <p:cNvSpPr/>
          <p:nvPr/>
        </p:nvSpPr>
        <p:spPr>
          <a:xfrm>
            <a:off x="11018520" y="6940296"/>
            <a:ext cx="20116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Neo4j</a:t>
            </a:r>
            <a:endParaRPr lang="en-US" sz="1650" dirty="0"/>
          </a:p>
        </p:txBody>
      </p:sp>
      <p:sp>
        <p:nvSpPr>
          <p:cNvPr id="2099" name="Text 3"/>
          <p:cNvSpPr/>
          <p:nvPr/>
        </p:nvSpPr>
        <p:spPr>
          <a:xfrm>
            <a:off x="13121640" y="6940296"/>
            <a:ext cx="13716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 0.001</a:t>
            </a:r>
            <a:endParaRPr lang="en-US" sz="1650" dirty="0"/>
          </a:p>
        </p:txBody>
      </p:sp>
      <p:sp>
        <p:nvSpPr>
          <p:cNvPr id="2100" name="Text 3"/>
          <p:cNvSpPr/>
          <p:nvPr/>
        </p:nvSpPr>
        <p:spPr>
          <a:xfrm>
            <a:off x="14584680" y="6940296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</a:t>
            </a:r>
            <a:endParaRPr lang="en-US" sz="1650" dirty="0"/>
          </a:p>
        </p:txBody>
      </p:sp>
      <p:sp>
        <p:nvSpPr>
          <p:cNvPr id="2101" name="Text 3"/>
          <p:cNvSpPr/>
          <p:nvPr/>
        </p:nvSpPr>
        <p:spPr>
          <a:xfrm>
            <a:off x="15681959" y="6940296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</a:t>
            </a:r>
            <a:endParaRPr lang="en-US" sz="1650" dirty="0"/>
          </a:p>
        </p:txBody>
      </p:sp>
      <p:sp>
        <p:nvSpPr>
          <p:cNvPr id="2102" name="Text 3"/>
          <p:cNvSpPr/>
          <p:nvPr/>
        </p:nvSpPr>
        <p:spPr>
          <a:xfrm>
            <a:off x="1234440" y="7360920"/>
            <a:ext cx="8229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Q11</a:t>
            </a:r>
            <a:endParaRPr lang="en-US" sz="1650" dirty="0"/>
          </a:p>
        </p:txBody>
      </p:sp>
      <p:sp>
        <p:nvSpPr>
          <p:cNvPr id="2103" name="Text 3"/>
          <p:cNvSpPr/>
          <p:nvPr/>
        </p:nvSpPr>
        <p:spPr>
          <a:xfrm>
            <a:off x="2057400" y="7360920"/>
            <a:ext cx="42062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Space Grotesk" pitchFamily="34" charset="0"/>
                <a:ea typeface="IBM Plex Mono" pitchFamily="34" charset="-122"/>
                <a:cs typeface="IBM Plex Mono" pitchFamily="34" charset="-120"/>
              </a:rPr>
              <a:t>Bulk UPDATE (write)</a:t>
            </a:r>
            <a:endParaRPr lang="en-US" sz="1650" dirty="0"/>
          </a:p>
        </p:txBody>
      </p:sp>
      <p:sp>
        <p:nvSpPr>
          <p:cNvPr id="2104" name="Text 3"/>
          <p:cNvSpPr/>
          <p:nvPr/>
        </p:nvSpPr>
        <p:spPr>
          <a:xfrm>
            <a:off x="6355080" y="7360920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303.1 ms</a:t>
            </a:r>
            <a:endParaRPr lang="en-US" sz="1650" dirty="0"/>
          </a:p>
        </p:txBody>
      </p:sp>
      <p:sp>
        <p:nvSpPr>
          <p:cNvPr id="2105" name="Text 3"/>
          <p:cNvSpPr/>
          <p:nvPr/>
        </p:nvSpPr>
        <p:spPr>
          <a:xfrm>
            <a:off x="7909560" y="7360920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195.6 ms</a:t>
            </a:r>
            <a:endParaRPr lang="en-US" sz="1650" dirty="0"/>
          </a:p>
        </p:txBody>
      </p:sp>
      <p:sp>
        <p:nvSpPr>
          <p:cNvPr id="2106" name="Text 3"/>
          <p:cNvSpPr/>
          <p:nvPr/>
        </p:nvSpPr>
        <p:spPr>
          <a:xfrm>
            <a:off x="9464040" y="7360920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1.55×</a:t>
            </a:r>
            <a:endParaRPr lang="en-US" sz="1650" dirty="0"/>
          </a:p>
        </p:txBody>
      </p:sp>
      <p:sp>
        <p:nvSpPr>
          <p:cNvPr id="2107" name="Text 3"/>
          <p:cNvSpPr/>
          <p:nvPr/>
        </p:nvSpPr>
        <p:spPr>
          <a:xfrm>
            <a:off x="11018520" y="7360920"/>
            <a:ext cx="20116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Neo4j</a:t>
            </a:r>
            <a:endParaRPr lang="en-US" sz="1650" dirty="0"/>
          </a:p>
        </p:txBody>
      </p:sp>
      <p:sp>
        <p:nvSpPr>
          <p:cNvPr id="2108" name="Text 3"/>
          <p:cNvSpPr/>
          <p:nvPr/>
        </p:nvSpPr>
        <p:spPr>
          <a:xfrm>
            <a:off x="13121640" y="7360920"/>
            <a:ext cx="13716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 0.001</a:t>
            </a:r>
            <a:endParaRPr lang="en-US" sz="1650" dirty="0"/>
          </a:p>
        </p:txBody>
      </p:sp>
      <p:sp>
        <p:nvSpPr>
          <p:cNvPr id="2109" name="Text 3"/>
          <p:cNvSpPr/>
          <p:nvPr/>
        </p:nvSpPr>
        <p:spPr>
          <a:xfrm>
            <a:off x="14584680" y="7360920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0.95</a:t>
            </a:r>
            <a:endParaRPr lang="en-US" sz="1650" dirty="0"/>
          </a:p>
        </p:txBody>
      </p:sp>
      <p:sp>
        <p:nvSpPr>
          <p:cNvPr id="2110" name="Text 3"/>
          <p:cNvSpPr/>
          <p:nvPr/>
        </p:nvSpPr>
        <p:spPr>
          <a:xfrm>
            <a:off x="15681959" y="7360920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</a:t>
            </a:r>
            <a:endParaRPr lang="en-US" sz="1650" dirty="0"/>
          </a:p>
        </p:txBody>
      </p:sp>
      <p:sp>
        <p:nvSpPr>
          <p:cNvPr id="2111" name="Text 3"/>
          <p:cNvSpPr/>
          <p:nvPr/>
        </p:nvSpPr>
        <p:spPr>
          <a:xfrm>
            <a:off x="1234440" y="7781544"/>
            <a:ext cx="8229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Q12</a:t>
            </a:r>
            <a:endParaRPr lang="en-US" sz="1650" dirty="0"/>
          </a:p>
        </p:txBody>
      </p:sp>
      <p:sp>
        <p:nvSpPr>
          <p:cNvPr id="2112" name="Text 3"/>
          <p:cNvSpPr/>
          <p:nvPr/>
        </p:nvSpPr>
        <p:spPr>
          <a:xfrm>
            <a:off x="2057400" y="7781544"/>
            <a:ext cx="42062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Space Grotesk" pitchFamily="34" charset="0"/>
                <a:ea typeface="IBM Plex Mono" pitchFamily="34" charset="-122"/>
                <a:cs typeface="IBM Plex Mono" pitchFamily="34" charset="-120"/>
              </a:rPr>
              <a:t>Schema evolution (write)</a:t>
            </a:r>
            <a:endParaRPr lang="en-US" sz="1650" dirty="0"/>
          </a:p>
        </p:txBody>
      </p:sp>
      <p:sp>
        <p:nvSpPr>
          <p:cNvPr id="2113" name="Text 3"/>
          <p:cNvSpPr/>
          <p:nvPr/>
        </p:nvSpPr>
        <p:spPr>
          <a:xfrm>
            <a:off x="6355080" y="7781544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435.9 ms</a:t>
            </a:r>
            <a:endParaRPr lang="en-US" sz="1650" dirty="0"/>
          </a:p>
        </p:txBody>
      </p:sp>
      <p:sp>
        <p:nvSpPr>
          <p:cNvPr id="2114" name="Text 3"/>
          <p:cNvSpPr/>
          <p:nvPr/>
        </p:nvSpPr>
        <p:spPr>
          <a:xfrm>
            <a:off x="7909560" y="7781544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85.4 ms</a:t>
            </a:r>
            <a:endParaRPr lang="en-US" sz="1650" dirty="0"/>
          </a:p>
        </p:txBody>
      </p:sp>
      <p:sp>
        <p:nvSpPr>
          <p:cNvPr id="2115" name="Text 3"/>
          <p:cNvSpPr/>
          <p:nvPr/>
        </p:nvSpPr>
        <p:spPr>
          <a:xfrm>
            <a:off x="9464040" y="7781544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5.11×</a:t>
            </a:r>
            <a:endParaRPr lang="en-US" sz="1650" dirty="0"/>
          </a:p>
        </p:txBody>
      </p:sp>
      <p:sp>
        <p:nvSpPr>
          <p:cNvPr id="2116" name="Text 3"/>
          <p:cNvSpPr/>
          <p:nvPr/>
        </p:nvSpPr>
        <p:spPr>
          <a:xfrm>
            <a:off x="11018520" y="7781544"/>
            <a:ext cx="20116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Neo4j</a:t>
            </a:r>
            <a:endParaRPr lang="en-US" sz="1650" dirty="0"/>
          </a:p>
        </p:txBody>
      </p:sp>
      <p:sp>
        <p:nvSpPr>
          <p:cNvPr id="2117" name="Text 3"/>
          <p:cNvSpPr/>
          <p:nvPr/>
        </p:nvSpPr>
        <p:spPr>
          <a:xfrm>
            <a:off x="13121640" y="7781544"/>
            <a:ext cx="13716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 0.001</a:t>
            </a:r>
            <a:endParaRPr lang="en-US" sz="1650" dirty="0"/>
          </a:p>
        </p:txBody>
      </p:sp>
      <p:sp>
        <p:nvSpPr>
          <p:cNvPr id="2118" name="Text 3"/>
          <p:cNvSpPr/>
          <p:nvPr/>
        </p:nvSpPr>
        <p:spPr>
          <a:xfrm>
            <a:off x="14584680" y="7781544"/>
            <a:ext cx="10058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0" dirty="0">
                <a:solidFill>
                  <a:srgbClr val="3D46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</a:t>
            </a:r>
            <a:endParaRPr lang="en-US" sz="1650" dirty="0"/>
          </a:p>
        </p:txBody>
      </p:sp>
      <p:sp>
        <p:nvSpPr>
          <p:cNvPr id="2119" name="Text 3"/>
          <p:cNvSpPr/>
          <p:nvPr/>
        </p:nvSpPr>
        <p:spPr>
          <a:xfrm>
            <a:off x="15681959" y="7781544"/>
            <a:ext cx="14630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yes</a:t>
            </a:r>
            <a:endParaRPr lang="en-US" sz="1650" dirty="0"/>
          </a:p>
        </p:txBody>
      </p:sp>
      <p:sp>
        <p:nvSpPr>
          <p:cNvPr id="2120" name="Text 17"/>
          <p:cNvSpPr/>
          <p:nvPr/>
        </p:nvSpPr>
        <p:spPr>
          <a:xfrm>
            <a:off x="952385" y="8686800"/>
            <a:ext cx="18021508" cy="351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B655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Mann-Whitney U two-sided · r = rank-biserial effect size · Holm = significant after Holm-Bonferroni over the 12 tests (10/12) · all 10 read queries return identical multisets</a:t>
            </a:r>
            <a:endParaRPr lang="en-US" sz="1950" dirty="0"/>
          </a:p>
        </p:txBody>
      </p:sp>
      <p:sp>
        <p:nvSpPr>
          <p:cNvPr id="2121" name="Text 18"/>
          <p:cNvSpPr/>
          <p:nvPr/>
        </p:nvSpPr>
        <p:spPr>
          <a:xfrm>
            <a:off x="952385" y="9633214"/>
            <a:ext cx="632952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DM 2025/26 · D'Angelica &amp; Leone · PostgreSQL vs Neo4j</a:t>
            </a:r>
            <a:endParaRPr lang="en-US" sz="1425" dirty="0"/>
          </a:p>
        </p:txBody>
      </p:sp>
      <p:sp>
        <p:nvSpPr>
          <p:cNvPr id="2122" name="Text 19"/>
          <p:cNvSpPr/>
          <p:nvPr/>
        </p:nvSpPr>
        <p:spPr>
          <a:xfrm>
            <a:off x="16684121" y="9633214"/>
            <a:ext cx="727653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BACKUP</a:t>
            </a:r>
            <a:endParaRPr lang="en-US" sz="14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9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23" name="Text 0"/>
          <p:cNvSpPr/>
          <p:nvPr/>
        </p:nvSpPr>
        <p:spPr>
          <a:xfrm>
            <a:off x="952385" y="857146"/>
            <a:ext cx="18021508" cy="316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B048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BACKUP — FAIR COMPARISON</a:t>
            </a:r>
            <a:endParaRPr lang="en-US" sz="1650" dirty="0"/>
          </a:p>
        </p:txBody>
      </p:sp>
      <p:sp>
        <p:nvSpPr>
          <p:cNvPr id="2124" name="Text 1"/>
          <p:cNvSpPr/>
          <p:nvPr/>
        </p:nvSpPr>
        <p:spPr>
          <a:xfrm>
            <a:off x="952385" y="1306710"/>
            <a:ext cx="18021508" cy="634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350" b="1" spc="-65" kern="0" dirty="0">
                <a:solidFill>
                  <a:srgbClr val="1A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Fair comparison: the same precomputation on both sides</a:t>
            </a:r>
            <a:endParaRPr lang="en-US" sz="4350" dirty="0"/>
          </a:p>
        </p:txBody>
      </p:sp>
      <p:sp>
        <p:nvSpPr>
          <p:cNvPr id="2125" name="Text 11"/>
          <p:cNvSpPr/>
          <p:nvPr/>
        </p:nvSpPr>
        <p:spPr>
          <a:xfrm>
            <a:off x="950976" y="2514600"/>
            <a:ext cx="7863840" cy="281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POSTGRES — MATERIALIZED VIEW, BUILT ONCE AT LOAD</a:t>
            </a:r>
            <a:endParaRPr lang="en-US" sz="1500" dirty="0"/>
          </a:p>
        </p:txBody>
      </p:sp>
      <p:sp>
        <p:nvSpPr>
          <p:cNvPr id="2126" name="Shape 12"/>
          <p:cNvSpPr/>
          <p:nvPr/>
        </p:nvSpPr>
        <p:spPr>
          <a:xfrm>
            <a:off x="950976" y="2880360"/>
            <a:ext cx="7863840" cy="3383280"/>
          </a:xfrm>
          <a:prstGeom prst="rect">
            <a:avLst/>
          </a:prstGeom>
          <a:solidFill>
            <a:srgbClr val="16202C"/>
          </a:solidFill>
          <a:ln/>
        </p:spPr>
        <p:txBody>
          <a:bodyPr/>
          <a:p/>
        </p:txBody>
      </p:sp>
      <p:sp>
        <p:nvSpPr>
          <p:cNvPr id="2127" name="Text 13"/>
          <p:cNvSpPr/>
          <p:nvPr/>
        </p:nvSpPr>
        <p:spPr>
          <a:xfrm>
            <a:off x="1188720" y="3063240"/>
            <a:ext cx="7406640" cy="30632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8C4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CREATE MATERIALIZED VIEW mv_played_for AS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8C4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 DISTINCT l.player_api_id,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8C4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CASE WHEN l.side = 'home' THEN m.home_team_api_id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8C4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 ELSE m.away_team_api_id END AS team_api_id,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8C4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m.season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8C4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  match_lineup l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8C4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JOIN   match m ON m.match_api_id = l.match_api_id;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8C4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CREATE INDEX ... ON mv_played_for(player_api_id);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B8C4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CREATE INDEX ... ON mv_played_for(team_api_id, season);</a:t>
            </a:r>
            <a:endParaRPr lang="en-US" sz="1500" dirty="0"/>
          </a:p>
        </p:txBody>
      </p:sp>
      <p:sp>
        <p:nvSpPr>
          <p:cNvPr id="2128" name="Text 14"/>
          <p:cNvSpPr/>
          <p:nvPr/>
        </p:nvSpPr>
        <p:spPr>
          <a:xfrm>
            <a:off x="9473184" y="2514600"/>
            <a:ext cx="7863840" cy="281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NEO4J — DERIVED RELATIONSHIP, BUILT ONCE AT LOAD</a:t>
            </a:r>
            <a:endParaRPr lang="en-US" sz="1500" dirty="0"/>
          </a:p>
        </p:txBody>
      </p:sp>
      <p:sp>
        <p:nvSpPr>
          <p:cNvPr id="2129" name="Shape 15"/>
          <p:cNvSpPr/>
          <p:nvPr/>
        </p:nvSpPr>
        <p:spPr>
          <a:xfrm>
            <a:off x="9473184" y="2880360"/>
            <a:ext cx="7863840" cy="3383280"/>
          </a:xfrm>
          <a:prstGeom prst="rect">
            <a:avLst/>
          </a:prstGeom>
          <a:solidFill>
            <a:srgbClr val="16202C"/>
          </a:solidFill>
          <a:ln/>
        </p:spPr>
        <p:txBody>
          <a:bodyPr/>
          <a:p/>
        </p:txBody>
      </p:sp>
      <p:sp>
        <p:nvSpPr>
          <p:cNvPr id="2130" name="Text 16"/>
          <p:cNvSpPr/>
          <p:nvPr/>
        </p:nvSpPr>
        <p:spPr>
          <a:xfrm>
            <a:off x="9710928" y="3063240"/>
            <a:ext cx="7406640" cy="30632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D5E5D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MATCH (p:Player)-[:LINEUP_OF]-&gt;(m:Match)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D5E5D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-[:HOME|AWAY]-&gt;(t:Team)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D5E5D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WITH  p, t, m.season AS season, count(*) AS apps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D5E5D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MERGE (p)-[r:PLAYED_FOR {season: season}]-&gt;(t)</a:t>
            </a:r>
            <a:endParaRPr lang="en-US" sz="15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D5E5D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   r.appearances = apps</a:t>
            </a:r>
            <a:endParaRPr lang="en-US" sz="1500" dirty="0"/>
          </a:p>
        </p:txBody>
      </p:sp>
      <p:sp>
        <p:nvSpPr>
          <p:cNvPr id="2131" name="Shape 2"/>
          <p:cNvSpPr/>
          <p:nvPr/>
        </p:nvSpPr>
        <p:spPr>
          <a:xfrm>
            <a:off x="950976" y="6537960"/>
            <a:ext cx="5257800" cy="2194560"/>
          </a:xfrm>
          <a:prstGeom prst="rect">
            <a:avLst/>
          </a:prstGeom>
          <a:solidFill>
            <a:srgbClr val="FFFFFF"/>
          </a:solidFill>
          <a:ln w="8695">
            <a:solidFill>
              <a:srgbClr val="DDD6CA"/>
            </a:solidFill>
            <a:prstDash val="solid"/>
          </a:ln>
        </p:spPr>
        <p:txBody>
          <a:bodyPr/>
          <a:p/>
        </p:txBody>
      </p:sp>
      <p:sp>
        <p:nvSpPr>
          <p:cNvPr id="2132" name="Text 3"/>
          <p:cNvSpPr/>
          <p:nvPr/>
        </p:nvSpPr>
        <p:spPr>
          <a:xfrm>
            <a:off x="1316736" y="6858000"/>
            <a:ext cx="4572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60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35,002</a:t>
            </a:r>
            <a:endParaRPr lang="en-US" sz="1650" dirty="0"/>
          </a:p>
        </p:txBody>
      </p:sp>
      <p:sp>
        <p:nvSpPr>
          <p:cNvPr id="2133" name="Text 4"/>
          <p:cNvSpPr/>
          <p:nvPr/>
        </p:nvSpPr>
        <p:spPr>
          <a:xfrm>
            <a:off x="1316736" y="7360920"/>
            <a:ext cx="457200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50" b="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rows in the view = 35,002 PLAYED_FOR relationships — the two populations coincide</a:t>
            </a:r>
            <a:pPr algn="l" indent="0" marL="0">
              <a:lnSpc>
                <a:spcPct val="140000"/>
              </a:lnSpc>
              <a:buNone/>
            </a:pPr>
            <a:endParaRPr lang="en-US" sz="1800" dirty="0"/>
          </a:p>
        </p:txBody>
      </p:sp>
      <p:sp>
        <p:nvSpPr>
          <p:cNvPr id="2134" name="Shape 2"/>
          <p:cNvSpPr/>
          <p:nvPr/>
        </p:nvSpPr>
        <p:spPr>
          <a:xfrm>
            <a:off x="6515100" y="6537960"/>
            <a:ext cx="5257800" cy="2194560"/>
          </a:xfrm>
          <a:prstGeom prst="rect">
            <a:avLst/>
          </a:prstGeom>
          <a:solidFill>
            <a:srgbClr val="FFFFFF"/>
          </a:solidFill>
          <a:ln w="8695">
            <a:solidFill>
              <a:srgbClr val="DDD6CA"/>
            </a:solidFill>
            <a:prstDash val="solid"/>
          </a:ln>
        </p:spPr>
        <p:txBody>
          <a:bodyPr/>
          <a:p/>
        </p:txBody>
      </p:sp>
      <p:sp>
        <p:nvSpPr>
          <p:cNvPr id="2135" name="Text 3"/>
          <p:cNvSpPr/>
          <p:nvPr/>
        </p:nvSpPr>
        <p:spPr>
          <a:xfrm>
            <a:off x="6880860" y="6858000"/>
            <a:ext cx="4572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Q09 · Q10</a:t>
            </a:r>
            <a:endParaRPr lang="en-US" sz="1650" dirty="0"/>
          </a:p>
        </p:txBody>
      </p:sp>
      <p:sp>
        <p:nvSpPr>
          <p:cNvPr id="2136" name="Text 4"/>
          <p:cNvSpPr/>
          <p:nvPr/>
        </p:nvSpPr>
        <p:spPr>
          <a:xfrm>
            <a:off x="6880860" y="7360920"/>
            <a:ext cx="457200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50" b="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only queries that use it, on both sides; Q08 walks the raw lineups on both sides</a:t>
            </a:r>
            <a:pPr algn="l" indent="0" marL="0">
              <a:lnSpc>
                <a:spcPct val="140000"/>
              </a:lnSpc>
              <a:buNone/>
            </a:pPr>
            <a:endParaRPr lang="en-US" sz="1800" dirty="0"/>
          </a:p>
        </p:txBody>
      </p:sp>
      <p:sp>
        <p:nvSpPr>
          <p:cNvPr id="2137" name="Shape 2"/>
          <p:cNvSpPr/>
          <p:nvPr/>
        </p:nvSpPr>
        <p:spPr>
          <a:xfrm>
            <a:off x="12079224" y="6537960"/>
            <a:ext cx="5257800" cy="2194560"/>
          </a:xfrm>
          <a:prstGeom prst="rect">
            <a:avLst/>
          </a:prstGeom>
          <a:solidFill>
            <a:srgbClr val="FFFFFF"/>
          </a:solidFill>
          <a:ln w="8695">
            <a:solidFill>
              <a:srgbClr val="DDD6CA"/>
            </a:solidFill>
            <a:prstDash val="solid"/>
          </a:ln>
        </p:spPr>
        <p:txBody>
          <a:bodyPr/>
          <a:p/>
        </p:txBody>
      </p:sp>
      <p:sp>
        <p:nvSpPr>
          <p:cNvPr id="2138" name="Text 3"/>
          <p:cNvSpPr/>
          <p:nvPr/>
        </p:nvSpPr>
        <p:spPr>
          <a:xfrm>
            <a:off x="12444984" y="6858000"/>
            <a:ext cx="4572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7A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</a:t>
            </a:r>
            <a:endParaRPr lang="en-US" sz="1650" dirty="0"/>
          </a:p>
        </p:txBody>
      </p:sp>
      <p:sp>
        <p:nvSpPr>
          <p:cNvPr id="2139" name="Text 4"/>
          <p:cNvSpPr/>
          <p:nvPr/>
        </p:nvSpPr>
        <p:spPr>
          <a:xfrm>
            <a:off x="12444984" y="7360920"/>
            <a:ext cx="457200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50" b="0" dirty="0">
                <a:solidFill>
                  <a:srgbClr val="3D46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without it Postgres would rebuild played_for with a CTE on every run while Neo4j walks a precomputed edge — asymmetric by design</a:t>
            </a:r>
            <a:pPr algn="l" indent="0" marL="0">
              <a:lnSpc>
                <a:spcPct val="140000"/>
              </a:lnSpc>
              <a:buNone/>
            </a:pPr>
            <a:endParaRPr lang="en-US" sz="1800" dirty="0"/>
          </a:p>
        </p:txBody>
      </p:sp>
      <p:sp>
        <p:nvSpPr>
          <p:cNvPr id="2140" name="Text 18"/>
          <p:cNvSpPr/>
          <p:nvPr/>
        </p:nvSpPr>
        <p:spPr>
          <a:xfrm>
            <a:off x="952385" y="9633214"/>
            <a:ext cx="6329527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DM 2025/26 · D'Angelica &amp; Leone · PostgreSQL vs Neo4j</a:t>
            </a:r>
            <a:endParaRPr lang="en-US" sz="1425" dirty="0"/>
          </a:p>
        </p:txBody>
      </p:sp>
      <p:sp>
        <p:nvSpPr>
          <p:cNvPr id="2141" name="Text 19"/>
          <p:cNvSpPr/>
          <p:nvPr/>
        </p:nvSpPr>
        <p:spPr>
          <a:xfrm>
            <a:off x="16684121" y="9633214"/>
            <a:ext cx="727653" cy="27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9A93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BACKUP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2026-07-08T15:49:08Z</dcterms:created>
  <dcterms:modified xsi:type="dcterms:W3CDTF">2026-07-08T15:49:08Z</dcterms:modified>
</cp:coreProperties>
</file>