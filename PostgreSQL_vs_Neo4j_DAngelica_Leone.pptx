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sec. Presentarsi. Una frase: abbiamo messo lo stesso dataset in due paradigmi diversi e li abbiamo messi in gara.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Il messaggio intero subito: nessun vincitore assoluto. Se il pubblico si distrae dopo questa slide, ha già capito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La domanda di ricerca: non 'quale è meglio' ma 'quando'. Due paradigmi con punti di forza dichiarati ex-ante.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Dataset reale, non sintetico. Sottolineare i 917k eventi parsati da XML grezzo: il lavoro di ETL è parte del contributo.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La decisione chiave: esplodere la tabella Match. Tre motivi: leggibilità, semantica normalizzata, simmetria col grafo — la simmetria è ciò che rende il confronto equo.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Stesse entità concettuali, ma gli eventi diventano relazioni tipizzate: SCORED_IN, LINEUP_OF, PLAYED_FOR. Navigarle non richiede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Non leggere gli step: dire solo che è tutto automatizzato e riproducibile in 7 minuti, con integrità referenziale totale. I tre bug risolti sono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Slide di credibilità: mediana + bootstrap CI + Mann-Whitney, ed equivalenza dei risultati verificata come insiemi. Sottolineare la materialized view: nessun vantaggio strutturale a nessuno dei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Punto di credibilità scientifica: le ipotesi sono dichiarate PRIMA di misurare. Graph-friendliness crescente da A a C, più i workload di scrittura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 — la slide centrale, rallentare. Leggere il pattern, non i numeri: tutte le A a Postgres, poi il campo si ribalta. Q09 è l'eccezione interessante: il 2-hop con dedup è un'aggregazione mascherata. 11 su 12 differenze significative.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 sec. Pausa a effetto. Non è tuning: il recursive CTE esplora tutto il fan-out, SHORTEST 1 si ferma appena tocca. Complessità diversa, non costante diversa.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La sproporzione visiva È il messaggio: stessa domanda, 21 righe contro 5. Non leggere il codice: indicare solo la CTE ricorsiva a sinistra e SHORTEST 1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Due dimensioni non-performance: concisione del codice e agilità dello schema. Q12: ALTER + UPDATE + lock contro un singolo SET — 4.5 volte più veloce, ma il punto vero è il change-management.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Tre takeaway, uno per paradigma più la dimensione dimenticata dello schema. Chiudere con il caveat in una riga: singolo nodo, configurazioni default — dettagli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Chiusura: non 'quale è meglio' ma 'quale problema hai'. Quattro criteri, due risposte. Poi grazie e passaggio alla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Q&amp;A: i tre bug reali risolti nella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 sul rigore sperimentale: ablation study su 7 coppie indice-query, drop-measure-restore.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limiti dichiarati e riferimenti bibliografici.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36" y="3817011"/>
            <a:ext cx="17392636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36" y="4455421"/>
            <a:ext cx="17392636" cy="128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7FA8D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vs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238236" y="5965650"/>
            <a:ext cx="17392636" cy="5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the graph beats the table — and when it doesn't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1238236" y="8692921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Giuseppe D'Angelica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238236" y="9099417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Nicolas Leone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github.com/theunick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0725564" y="8772808"/>
            <a:ext cx="6324159" cy="695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8B96A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Management 2025/26 — Sapienza Università di Roma Tutor: Roberto Maria Delfino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EXECUTIVE SUMMARY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313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650" b="1" spc="-70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absolute winner: Neo4j dominates variable-depth traversals — 57× on shortest path — while light aggregations are a dead heat and Postgres keeps the fixed-depth join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52385" y="3439318"/>
            <a:ext cx="5207004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8252" y="3981403"/>
            <a:ext cx="4702797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57×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1418252" y="5333898"/>
            <a:ext cx="470279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shortest path on Neo4j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18252" y="5813350"/>
            <a:ext cx="440352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671 ms in Postgres, 12 ms in Neo4j — identical semantics, a change of complexity class.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6209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2.1×</a:t>
            </a:r>
            <a:endParaRPr lang="en-US" sz="9750" dirty="0"/>
          </a:p>
        </p:txBody>
      </p:sp>
      <p:sp>
        <p:nvSpPr>
          <p:cNvPr id="10" name="Text 8"/>
          <p:cNvSpPr/>
          <p:nvPr/>
        </p:nvSpPr>
        <p:spPr>
          <a:xfrm>
            <a:off x="7006209" y="5333898"/>
            <a:ext cx="4403668" cy="768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on the fixed-depth join (Q09)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006209" y="6178544"/>
            <a:ext cx="4403668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the same precomputation, B-tree joins beat the traversal — and the lead widens as data grows. The four light aggregations (&lt; 15 ms) are a dead heat.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94302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9750" dirty="0"/>
          </a:p>
        </p:txBody>
      </p:sp>
      <p:sp>
        <p:nvSpPr>
          <p:cNvPr id="14" name="Text 12"/>
          <p:cNvSpPr/>
          <p:nvPr/>
        </p:nvSpPr>
        <p:spPr>
          <a:xfrm>
            <a:off x="12594302" y="5333898"/>
            <a:ext cx="470294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shorter code in Cypher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594302" y="5813350"/>
            <a:ext cx="440366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lines become 5 Cypher lines on graph queries — expressiveness is a result too.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14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RESEARCH QUESTION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does a graph database actually beat a relational one?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2766927" y="2590595"/>
            <a:ext cx="12753970" cy="11695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data, same questions, two paradigms — measured, not argued.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52385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52385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7" name="Shape 5"/>
          <p:cNvSpPr/>
          <p:nvPr/>
        </p:nvSpPr>
        <p:spPr>
          <a:xfrm>
            <a:off x="952385" y="4483952"/>
            <a:ext cx="8001118" cy="52171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8" name="Shape 6"/>
          <p:cNvSpPr/>
          <p:nvPr/>
        </p:nvSpPr>
        <p:spPr>
          <a:xfrm>
            <a:off x="952385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9" name="Shape 7"/>
          <p:cNvSpPr/>
          <p:nvPr/>
        </p:nvSpPr>
        <p:spPr>
          <a:xfrm>
            <a:off x="8944808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0" name="Text 8"/>
          <p:cNvSpPr/>
          <p:nvPr/>
        </p:nvSpPr>
        <p:spPr>
          <a:xfrm>
            <a:off x="1456293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Relational strengths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56293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Mature planner, decades of optimisation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456293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B-tree indexes, OLAP-style aggregations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456293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Joins as a first-class, well-tuned citizen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9334456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334456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4456" y="4483952"/>
            <a:ext cx="8001118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34456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326879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9838365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Graph strengths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38365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Native traversal of relationships — no joins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838365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Built for paths, neighbourhoods, communities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838365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Schema-on-read flexibility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14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DATASET — EUROPEAN SOCCER DATABASE (KAGGLE, H. MATHIEN)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real, non-trivial dataset: 25,979 matches and 917,815 events parsed from raw XML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03049"/>
            <a:ext cx="3838613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80075" y="3768916"/>
            <a:ext cx="328155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1380075" y="4702280"/>
            <a:ext cx="328155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80075" y="5124536"/>
            <a:ext cx="328155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 leagues · 8 seasons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5133774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6146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11,060</a:t>
            </a:r>
            <a:endParaRPr lang="en-US" sz="6300" dirty="0"/>
          </a:p>
        </p:txBody>
      </p:sp>
      <p:sp>
        <p:nvSpPr>
          <p:cNvPr id="10" name="Text 8"/>
          <p:cNvSpPr/>
          <p:nvPr/>
        </p:nvSpPr>
        <p:spPr>
          <a:xfrm>
            <a:off x="556146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56146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FIFA-rating snapshots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9315300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42990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9742990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events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42990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parsed from raw XML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3496826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2451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</a:t>
            </a:r>
            <a:endParaRPr lang="en-US" sz="6300" dirty="0"/>
          </a:p>
        </p:txBody>
      </p:sp>
      <p:sp>
        <p:nvSpPr>
          <p:cNvPr id="18" name="Text 16"/>
          <p:cNvSpPr/>
          <p:nvPr/>
        </p:nvSpPr>
        <p:spPr>
          <a:xfrm>
            <a:off x="1392451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lineup rows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2451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11+11 per match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52385" y="6561400"/>
            <a:ext cx="89924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7730" y="6535315"/>
            <a:ext cx="5040379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300-MB monolithic SQLite file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392733" y="6561400"/>
            <a:ext cx="135787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779465" y="6535315"/>
            <a:ext cx="6843463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Match table: 115 columns, XML-encoded events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115 columns to 4 tables: the normalisation that makes the comparison fair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10522"/>
            <a:ext cx="6927274" cy="28769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52385" y="6178816"/>
            <a:ext cx="692727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6" name="Shape 4"/>
          <p:cNvSpPr/>
          <p:nvPr/>
        </p:nvSpPr>
        <p:spPr>
          <a:xfrm>
            <a:off x="952385" y="3310522"/>
            <a:ext cx="6927274" cy="52171"/>
          </a:xfrm>
          <a:prstGeom prst="rect">
            <a:avLst/>
          </a:prstGeom>
          <a:solidFill>
            <a:srgbClr val="B0483A"/>
          </a:solidFill>
          <a:ln/>
        </p:spPr>
      </p:sp>
      <p:sp>
        <p:nvSpPr>
          <p:cNvPr id="7" name="Shape 5"/>
          <p:cNvSpPr/>
          <p:nvPr/>
        </p:nvSpPr>
        <p:spPr>
          <a:xfrm>
            <a:off x="952385" y="3310522"/>
            <a:ext cx="9525" cy="2876990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8" name="Shape 6"/>
          <p:cNvSpPr/>
          <p:nvPr/>
        </p:nvSpPr>
        <p:spPr>
          <a:xfrm>
            <a:off x="7870963" y="3310522"/>
            <a:ext cx="9525" cy="2876990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9" name="Text 7"/>
          <p:cNvSpPr/>
          <p:nvPr/>
        </p:nvSpPr>
        <p:spPr>
          <a:xfrm>
            <a:off x="1456293" y="3781687"/>
            <a:ext cx="6511404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— SOURCE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56293" y="4231251"/>
            <a:ext cx="6511404" cy="6857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 columns</a:t>
            </a:r>
            <a:endParaRPr lang="en-US" sz="5100" dirty="0"/>
          </a:p>
        </p:txBody>
      </p:sp>
      <p:sp>
        <p:nvSpPr>
          <p:cNvPr id="11" name="Text 9"/>
          <p:cNvSpPr/>
          <p:nvPr/>
        </p:nvSpPr>
        <p:spPr>
          <a:xfrm>
            <a:off x="1456293" y="5069377"/>
            <a:ext cx="6097042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44 lineup columns · 8 raw XML fields · 20 betting odds · base info — all in one Match table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7841558" y="4362085"/>
            <a:ext cx="1219197" cy="811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9022656" y="3207811"/>
            <a:ext cx="8312919" cy="3082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022656" y="6281663"/>
            <a:ext cx="8312919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5" name="Shape 13"/>
          <p:cNvSpPr/>
          <p:nvPr/>
        </p:nvSpPr>
        <p:spPr>
          <a:xfrm>
            <a:off x="9022656" y="3207811"/>
            <a:ext cx="8312919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2656" y="3207811"/>
            <a:ext cx="9525" cy="3082547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26879" y="3207811"/>
            <a:ext cx="9525" cy="3082547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9526564" y="3678976"/>
            <a:ext cx="803561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 — NORMALISED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526564" y="4185737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751421" y="4194432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 rows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6564" y="4628780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match_lineup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51421" y="4637475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 rows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526564" y="5071822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match_event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751421" y="5080517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 rows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526564" y="5514864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match_odds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751421" y="5523559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 of scope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385" y="6957027"/>
            <a:ext cx="5257815" cy="863803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28" name="Text 26"/>
          <p:cNvSpPr/>
          <p:nvPr/>
        </p:nvSpPr>
        <p:spPr>
          <a:xfrm>
            <a:off x="1295285" y="7223727"/>
            <a:ext cx="4729750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Readable SQL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6514936" y="6957027"/>
            <a:ext cx="5257951" cy="863803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30" name="Text 28"/>
          <p:cNvSpPr/>
          <p:nvPr/>
        </p:nvSpPr>
        <p:spPr>
          <a:xfrm>
            <a:off x="6857836" y="7223727"/>
            <a:ext cx="4729890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Events become indexable rows</a:t>
            </a:r>
            <a:endParaRPr lang="en-US" sz="2025" dirty="0"/>
          </a:p>
        </p:txBody>
      </p:sp>
      <p:sp>
        <p:nvSpPr>
          <p:cNvPr id="31" name="Shape 29"/>
          <p:cNvSpPr/>
          <p:nvPr/>
        </p:nvSpPr>
        <p:spPr>
          <a:xfrm>
            <a:off x="12077623" y="6957027"/>
            <a:ext cx="5257951" cy="863803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32" name="Text 30"/>
          <p:cNvSpPr/>
          <p:nvPr/>
        </p:nvSpPr>
        <p:spPr>
          <a:xfrm>
            <a:off x="12420523" y="7223727"/>
            <a:ext cx="4729890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Symmetry with the graph model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14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the graph, events become relationships: zero joins to navigate them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42034" y="3711719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(Player)-[:SCORED_IN]-&gt;(Match)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1342034" y="4093895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parsed event is a typed, directed relationship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952385" y="4978350"/>
            <a:ext cx="9620580" cy="1617695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2034" y="5291780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(Player)-[:PLAYED_FOR]-&gt;(Team)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342034" y="5673957"/>
            <a:ext cx="9106520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Derived at load time — the edge that powers teammates &amp; shortest-path queries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52385" y="6862740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42034" y="7176171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(Match)-[:HOME|AWAY]-&gt;(Team)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342034" y="7558347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Structure (league, country, sides) mirrors the relational FKs 1:1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1239634" y="3112572"/>
            <a:ext cx="6095941" cy="615422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-25081" r="-25081" t="0" b="0"/>
          <a:stretch/>
        </p:blipFill>
        <p:spPr>
          <a:xfrm>
            <a:off x="11438805" y="3311744"/>
            <a:ext cx="5697597" cy="51911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53341" y="8598090"/>
            <a:ext cx="5868525" cy="507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 Neo4j schema visualisation — CALL db.schema.visualization()</a:t>
            </a:r>
            <a:endParaRPr lang="en-US" sz="1425" dirty="0"/>
          </a:p>
        </p:txBody>
      </p:sp>
      <p:sp>
        <p:nvSpPr>
          <p:cNvPr id="16" name="Text 1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14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ETL PIPELINE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reproducible pipeline: SQLite to both databases in ~7 minutes, zero orphan FKs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46795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246795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Extract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6795" y="4566283"/>
            <a:ext cx="2459199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all tables from database.sqlite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3886105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05159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570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4599570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Transform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99570" y="4566283"/>
            <a:ext cx="2459199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 XML events, explode lineup, fix orphan FKs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723888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657933" y="3398288"/>
            <a:ext cx="2971956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2344" y="3749760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7952344" y="4105851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Clean CSVs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7952344" y="4566283"/>
            <a:ext cx="2459335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 files in clean/ — one source of truth for both DBs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059179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010843" y="3398288"/>
            <a:ext cx="2971821" cy="24389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10843" y="5828567"/>
            <a:ext cx="2971821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10843" y="3398288"/>
            <a:ext cx="2971821" cy="52171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10843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3" name="Shape 21"/>
          <p:cNvSpPr/>
          <p:nvPr/>
        </p:nvSpPr>
        <p:spPr>
          <a:xfrm>
            <a:off x="1397396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1305254" y="3793235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11305254" y="4149327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Postgres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305254" y="4609759"/>
            <a:ext cx="2621299" cy="344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DDL + COPY bulk insert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3944564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4363617" y="3398288"/>
            <a:ext cx="2971956" cy="24389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4363617" y="5828567"/>
            <a:ext cx="2971956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4363617" y="3398288"/>
            <a:ext cx="2971956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31" name="Shape 29"/>
          <p:cNvSpPr/>
          <p:nvPr/>
        </p:nvSpPr>
        <p:spPr>
          <a:xfrm>
            <a:off x="14363617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732687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4658029" y="3793235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4658029" y="4149327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Neo4j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4658029" y="4609759"/>
            <a:ext cx="2459335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CSV + derive PLAYED_FOR</a:t>
            </a:r>
            <a:endParaRPr lang="en-US" sz="1725" dirty="0"/>
          </a:p>
        </p:txBody>
      </p:sp>
      <p:sp>
        <p:nvSpPr>
          <p:cNvPr id="36" name="Shape 34"/>
          <p:cNvSpPr/>
          <p:nvPr/>
        </p:nvSpPr>
        <p:spPr>
          <a:xfrm>
            <a:off x="952385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380" y="7018165"/>
            <a:ext cx="1221915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2707571" y="7235542"/>
            <a:ext cx="3150115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FK integrity — zero orphans across 542k+ refs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6527707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40" name="Text 38"/>
          <p:cNvSpPr/>
          <p:nvPr/>
        </p:nvSpPr>
        <p:spPr>
          <a:xfrm>
            <a:off x="6946702" y="7018165"/>
            <a:ext cx="1761232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3600" dirty="0"/>
          </a:p>
        </p:txBody>
      </p:sp>
      <p:sp>
        <p:nvSpPr>
          <p:cNvPr id="41" name="Text 39"/>
          <p:cNvSpPr/>
          <p:nvPr/>
        </p:nvSpPr>
        <p:spPr>
          <a:xfrm>
            <a:off x="8738299" y="7235542"/>
            <a:ext cx="2681047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typed rows from XML (14,196 matches)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2103029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43" name="Text 41"/>
          <p:cNvSpPr/>
          <p:nvPr/>
        </p:nvSpPr>
        <p:spPr>
          <a:xfrm>
            <a:off x="12522024" y="7018165"/>
            <a:ext cx="1288351" cy="1203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~7 min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13924651" y="7235542"/>
            <a:ext cx="3081686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pipeline re-run, end-to-end</a:t>
            </a:r>
            <a:endParaRPr lang="en-US" sz="1875" dirty="0"/>
          </a:p>
        </p:txBody>
      </p:sp>
      <p:sp>
        <p:nvSpPr>
          <p:cNvPr id="45" name="Text 4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14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EXPERIMENTAL SETUP &amp; METHODOLOGY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Rigorous by design: 15 runs, bootstrap CIs, significance tests — and results verified equivalent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8020138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9095" y="3483201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ENVIRONMENT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99095" y="3896354"/>
            <a:ext cx="7340519" cy="15238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MacBook Air M2 · 8 GB RAM · SSD — single-user, in-memory dataset.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18.6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(default config) ·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2026.04.0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315300" y="3112572"/>
            <a:ext cx="8020274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62010" y="3483201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STATISTICS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9762010" y="3934530"/>
            <a:ext cx="1446918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0" name="Text 8"/>
          <p:cNvSpPr/>
          <p:nvPr/>
        </p:nvSpPr>
        <p:spPr>
          <a:xfrm>
            <a:off x="9914410" y="4029780"/>
            <a:ext cx="1218318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warm-up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342208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704141" y="3934530"/>
            <a:ext cx="1088925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3" name="Text 11"/>
          <p:cNvSpPr/>
          <p:nvPr/>
        </p:nvSpPr>
        <p:spPr>
          <a:xfrm>
            <a:off x="11856541" y="4029780"/>
            <a:ext cx="860325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 runs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26346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288280" y="3934530"/>
            <a:ext cx="2085736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6" name="Text 14"/>
          <p:cNvSpPr/>
          <p:nvPr/>
        </p:nvSpPr>
        <p:spPr>
          <a:xfrm>
            <a:off x="13440680" y="4029780"/>
            <a:ext cx="1857136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median + 95% CI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07294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762010" y="4486941"/>
            <a:ext cx="2147417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9" name="Text 17"/>
          <p:cNvSpPr/>
          <p:nvPr/>
        </p:nvSpPr>
        <p:spPr>
          <a:xfrm>
            <a:off x="9914410" y="4582191"/>
            <a:ext cx="1918817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385" y="6095533"/>
            <a:ext cx="8020138" cy="231221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99095" y="6466162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 EQUIVALENCE</a:t>
            </a:r>
            <a:endParaRPr lang="en-US" sz="1575" dirty="0"/>
          </a:p>
        </p:txBody>
      </p:sp>
      <p:sp>
        <p:nvSpPr>
          <p:cNvPr id="22" name="Text 20"/>
          <p:cNvSpPr/>
          <p:nvPr/>
        </p:nvSpPr>
        <p:spPr>
          <a:xfrm>
            <a:off x="1399095" y="6879315"/>
            <a:ext cx="734051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result-sets normalised (rounding, dates, decimals) and compared as multisets.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10 read queries: identical answers.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315300" y="6095533"/>
            <a:ext cx="8020274" cy="2312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315300" y="8399054"/>
            <a:ext cx="802027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5" name="Shape 23"/>
          <p:cNvSpPr/>
          <p:nvPr/>
        </p:nvSpPr>
        <p:spPr>
          <a:xfrm>
            <a:off x="9315300" y="6095533"/>
            <a:ext cx="8020274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26" name="Shape 24"/>
          <p:cNvSpPr/>
          <p:nvPr/>
        </p:nvSpPr>
        <p:spPr>
          <a:xfrm>
            <a:off x="9315300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7326879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9762010" y="6509638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FAIRNESS CHOICE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9762010" y="6922790"/>
            <a:ext cx="734065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precomputes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mv_played_for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mirror Neo4j's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edge —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neither system gets a structural advantage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Q09–Q10.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14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BENCHMARK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 queries of increasing graph-friendliness — with hypotheses declared before measuring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1080" y="3121267"/>
            <a:ext cx="857146" cy="1142046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6" name="Text 4"/>
          <p:cNvSpPr/>
          <p:nvPr/>
        </p:nvSpPr>
        <p:spPr>
          <a:xfrm>
            <a:off x="922980" y="3121267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103976" y="3387967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Q01–Q04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913643" y="3387967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&amp; 2–3 way joins — top scorers, standings, win %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3326456" y="3121267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0" name="Text 8"/>
          <p:cNvSpPr/>
          <p:nvPr/>
        </p:nvSpPr>
        <p:spPr>
          <a:xfrm>
            <a:off x="13620901" y="3387967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Postgres wins or ties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385" y="4462486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1080" y="4471181"/>
            <a:ext cx="857146" cy="1142046"/>
          </a:xfrm>
          <a:prstGeom prst="rect">
            <a:avLst/>
          </a:prstGeom>
          <a:solidFill>
            <a:srgbClr val="4B7A72"/>
          </a:solidFill>
          <a:ln/>
        </p:spPr>
      </p:sp>
      <p:sp>
        <p:nvSpPr>
          <p:cNvPr id="13" name="Text 11"/>
          <p:cNvSpPr/>
          <p:nvPr/>
        </p:nvSpPr>
        <p:spPr>
          <a:xfrm>
            <a:off x="922980" y="4471181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2103976" y="4737881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Q05–Q07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3913643" y="4737881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Multi-hop joins, self-joins, presence-in-all-of (8 seasons)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326456" y="4471181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3620901" y="4737881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4B7A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slight Neo4j edge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52385" y="5812399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1080" y="5821095"/>
            <a:ext cx="857146" cy="1142046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922980" y="5821095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2103976" y="6087795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Q08–Q10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3913643" y="6087795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Network traversal — teammates, 2-hop, shortest path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26456" y="5821095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620901" y="6087795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Neo4j wins clearly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52385" y="7162313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1080" y="7171008"/>
            <a:ext cx="857146" cy="1142046"/>
          </a:xfrm>
          <a:prstGeom prst="rect">
            <a:avLst/>
          </a:prstGeom>
          <a:solidFill>
            <a:srgbClr val="6B655C"/>
          </a:solidFill>
          <a:ln/>
        </p:spPr>
      </p:sp>
      <p:sp>
        <p:nvSpPr>
          <p:cNvPr id="27" name="Text 25"/>
          <p:cNvSpPr/>
          <p:nvPr/>
        </p:nvSpPr>
        <p:spPr>
          <a:xfrm>
            <a:off x="922980" y="7171008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2103976" y="7437708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Q11–Q12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913643" y="7437708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Writes — bulk UPDATE, schema evolution (new attribute)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3326456" y="7171008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3620901" y="7437708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Comparing paradigms, not speed</a:t>
            </a:r>
            <a:endParaRPr lang="en-US" sz="1875" dirty="0"/>
          </a:p>
        </p:txBody>
      </p:sp>
      <p:sp>
        <p:nvSpPr>
          <p:cNvPr id="32" name="Text 30"/>
          <p:cNvSpPr/>
          <p:nvPr/>
        </p:nvSpPr>
        <p:spPr>
          <a:xfrm>
            <a:off x="952385" y="8740744"/>
            <a:ext cx="18021508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query written twice — same logic in SQL and Cypher, parameterised · </a:t>
            </a:r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queries/sql/Q01..Q12.sql · queries/cypher/Q01..Q12.cypher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14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— 12 QUERIES, LOG SCALE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Category A (&lt; 15 ms) is a dead heat; Postgres wins the fixed-depth join (Q09), Neo4j wins every variable-depth traversal and every write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842753"/>
            <a:ext cx="2943148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11889" y="2842753"/>
            <a:ext cx="17390" cy="338701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6" name="Text 4"/>
          <p:cNvSpPr/>
          <p:nvPr/>
        </p:nvSpPr>
        <p:spPr>
          <a:xfrm>
            <a:off x="3701226" y="2842753"/>
            <a:ext cx="3577313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◀ POSTGRES FASTER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62630" y="2842753"/>
            <a:ext cx="3594703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FASTER 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860144" y="2842753"/>
            <a:ext cx="6475430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SPEEDUP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52385" y="3181454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638074" y="3198844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scorers by season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411889" y="3181454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12" name="Shape 10"/>
          <p:cNvSpPr/>
          <p:nvPr/>
        </p:nvSpPr>
        <p:spPr>
          <a:xfrm>
            <a:off x="7424927" y="3257536"/>
            <a:ext cx="360397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3" name="Text 11"/>
          <p:cNvSpPr/>
          <p:nvPr/>
        </p:nvSpPr>
        <p:spPr>
          <a:xfrm>
            <a:off x="10860144" y="3181454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1.58×*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52385" y="3619469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638074" y="3636859"/>
            <a:ext cx="1988691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League standings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411889" y="3619469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24927" y="3695551"/>
            <a:ext cx="169482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8" name="Text 16"/>
          <p:cNvSpPr/>
          <p:nvPr/>
        </p:nvSpPr>
        <p:spPr>
          <a:xfrm>
            <a:off x="10860144" y="3619469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1.24×*</a:t>
            </a:r>
            <a:endParaRPr lang="en-US" sz="1725" dirty="0"/>
          </a:p>
        </p:txBody>
      </p:sp>
      <p:sp>
        <p:nvSpPr>
          <p:cNvPr id="19" name="Text 17"/>
          <p:cNvSpPr/>
          <p:nvPr/>
        </p:nvSpPr>
        <p:spPr>
          <a:xfrm>
            <a:off x="952385" y="4057485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1638074" y="4074875"/>
            <a:ext cx="1798893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Goals per match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7411889" y="4057485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22" name="Shape 20"/>
          <p:cNvSpPr/>
          <p:nvPr/>
        </p:nvSpPr>
        <p:spPr>
          <a:xfrm>
            <a:off x="7306055" y="4133567"/>
            <a:ext cx="109728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23" name="Text 21"/>
          <p:cNvSpPr/>
          <p:nvPr/>
        </p:nvSpPr>
        <p:spPr>
          <a:xfrm>
            <a:off x="10860144" y="4057485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1.03×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952385" y="4495500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1638074" y="4512890"/>
            <a:ext cx="2283251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Home win % by team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7411889" y="4495500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72135" y="4571582"/>
            <a:ext cx="143648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28" name="Text 26"/>
          <p:cNvSpPr/>
          <p:nvPr/>
        </p:nvSpPr>
        <p:spPr>
          <a:xfrm>
            <a:off x="10860144" y="4495500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1.20×*</a:t>
            </a:r>
            <a:endParaRPr lang="en-US" sz="1725" dirty="0"/>
          </a:p>
        </p:txBody>
      </p:sp>
      <p:sp>
        <p:nvSpPr>
          <p:cNvPr id="29" name="Text 27"/>
          <p:cNvSpPr/>
          <p:nvPr/>
        </p:nvSpPr>
        <p:spPr>
          <a:xfrm>
            <a:off x="952385" y="4933516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725" dirty="0"/>
          </a:p>
        </p:txBody>
      </p:sp>
      <p:sp>
        <p:nvSpPr>
          <p:cNvPr id="30" name="Text 28"/>
          <p:cNvSpPr/>
          <p:nvPr/>
        </p:nvSpPr>
        <p:spPr>
          <a:xfrm>
            <a:off x="1638074" y="4950906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Goal-assist partnerships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7411889" y="4933516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32" name="Shape 30"/>
          <p:cNvSpPr/>
          <p:nvPr/>
        </p:nvSpPr>
        <p:spPr>
          <a:xfrm>
            <a:off x="7424927" y="5009598"/>
            <a:ext cx="200628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10860144" y="4933516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1.29×*</a:t>
            </a:r>
            <a:endParaRPr lang="en-US" sz="1725" dirty="0"/>
          </a:p>
        </p:txBody>
      </p:sp>
      <p:sp>
        <p:nvSpPr>
          <p:cNvPr id="34" name="Text 32"/>
          <p:cNvSpPr/>
          <p:nvPr/>
        </p:nvSpPr>
        <p:spPr>
          <a:xfrm>
            <a:off x="952385" y="5371531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725" dirty="0"/>
          </a:p>
        </p:txBody>
      </p:sp>
      <p:sp>
        <p:nvSpPr>
          <p:cNvPr id="35" name="Text 33"/>
          <p:cNvSpPr/>
          <p:nvPr/>
        </p:nvSpPr>
        <p:spPr>
          <a:xfrm>
            <a:off x="1638074" y="5388921"/>
            <a:ext cx="2291918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Cards vs Real Madrid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7411889" y="5371531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37" name="Shape 35"/>
          <p:cNvSpPr/>
          <p:nvPr/>
        </p:nvSpPr>
        <p:spPr>
          <a:xfrm>
            <a:off x="7424927" y="5447613"/>
            <a:ext cx="1017933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38" name="Text 36"/>
          <p:cNvSpPr/>
          <p:nvPr/>
        </p:nvSpPr>
        <p:spPr>
          <a:xfrm>
            <a:off x="10860144" y="5371531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3.64×*</a:t>
            </a:r>
            <a:endParaRPr lang="en-US" sz="1725" dirty="0"/>
          </a:p>
        </p:txBody>
      </p:sp>
      <p:sp>
        <p:nvSpPr>
          <p:cNvPr id="39" name="Text 37"/>
          <p:cNvSpPr/>
          <p:nvPr/>
        </p:nvSpPr>
        <p:spPr>
          <a:xfrm>
            <a:off x="952385" y="5809547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725" dirty="0"/>
          </a:p>
        </p:txBody>
      </p:sp>
      <p:sp>
        <p:nvSpPr>
          <p:cNvPr id="40" name="Text 38"/>
          <p:cNvSpPr/>
          <p:nvPr/>
        </p:nvSpPr>
        <p:spPr>
          <a:xfrm>
            <a:off x="1638074" y="5826937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 in all 8 seasons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7411889" y="5809547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42" name="Shape 40"/>
          <p:cNvSpPr/>
          <p:nvPr/>
        </p:nvSpPr>
        <p:spPr>
          <a:xfrm>
            <a:off x="7424927" y="5885629"/>
            <a:ext cx="509842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43" name="Text 41"/>
          <p:cNvSpPr/>
          <p:nvPr/>
        </p:nvSpPr>
        <p:spPr>
          <a:xfrm>
            <a:off x="10860144" y="5809547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1.91×*</a:t>
            </a:r>
            <a:endParaRPr lang="en-US" sz="1725" dirty="0"/>
          </a:p>
        </p:txBody>
      </p:sp>
      <p:sp>
        <p:nvSpPr>
          <p:cNvPr id="44" name="Text 42"/>
          <p:cNvSpPr/>
          <p:nvPr/>
        </p:nvSpPr>
        <p:spPr>
          <a:xfrm>
            <a:off x="952385" y="6247562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725" dirty="0"/>
          </a:p>
        </p:txBody>
      </p:sp>
      <p:sp>
        <p:nvSpPr>
          <p:cNvPr id="45" name="Text 43"/>
          <p:cNvSpPr/>
          <p:nvPr/>
        </p:nvSpPr>
        <p:spPr>
          <a:xfrm>
            <a:off x="1638074" y="6264952"/>
            <a:ext cx="2255154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Teammates of Messi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7411889" y="6247562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47" name="Shape 45"/>
          <p:cNvSpPr/>
          <p:nvPr/>
        </p:nvSpPr>
        <p:spPr>
          <a:xfrm>
            <a:off x="7424927" y="6323644"/>
            <a:ext cx="770807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48" name="Text 46"/>
          <p:cNvSpPr/>
          <p:nvPr/>
        </p:nvSpPr>
        <p:spPr>
          <a:xfrm>
            <a:off x="10860144" y="6247562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2.66×*</a:t>
            </a:r>
            <a:endParaRPr lang="en-US" sz="1725" dirty="0"/>
          </a:p>
        </p:txBody>
      </p:sp>
      <p:sp>
        <p:nvSpPr>
          <p:cNvPr id="49" name="Text 47"/>
          <p:cNvSpPr/>
          <p:nvPr/>
        </p:nvSpPr>
        <p:spPr>
          <a:xfrm>
            <a:off x="952385" y="6685577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725" dirty="0"/>
          </a:p>
        </p:txBody>
      </p:sp>
      <p:sp>
        <p:nvSpPr>
          <p:cNvPr id="50" name="Text 48"/>
          <p:cNvSpPr/>
          <p:nvPr/>
        </p:nvSpPr>
        <p:spPr>
          <a:xfrm>
            <a:off x="1638074" y="6702968"/>
            <a:ext cx="1985403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2-hop teammates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7411889" y="6685577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52" name="Shape 50"/>
          <p:cNvSpPr/>
          <p:nvPr/>
        </p:nvSpPr>
        <p:spPr>
          <a:xfrm>
            <a:off x="6834984" y="6761659"/>
            <a:ext cx="580799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53" name="Text 51"/>
          <p:cNvSpPr/>
          <p:nvPr/>
        </p:nvSpPr>
        <p:spPr>
          <a:xfrm>
            <a:off x="10860144" y="6685577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2.09×*</a:t>
            </a:r>
            <a:endParaRPr lang="en-US" sz="1725" dirty="0"/>
          </a:p>
        </p:txBody>
      </p:sp>
      <p:sp>
        <p:nvSpPr>
          <p:cNvPr id="54" name="Text 52"/>
          <p:cNvSpPr/>
          <p:nvPr/>
        </p:nvSpPr>
        <p:spPr>
          <a:xfrm>
            <a:off x="952385" y="7123593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725" dirty="0"/>
          </a:p>
        </p:txBody>
      </p:sp>
      <p:sp>
        <p:nvSpPr>
          <p:cNvPr id="55" name="Text 53"/>
          <p:cNvSpPr/>
          <p:nvPr/>
        </p:nvSpPr>
        <p:spPr>
          <a:xfrm>
            <a:off x="1638074" y="7140983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Shortest path Messi→Pirlo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7411889" y="7123593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57" name="Shape 55"/>
          <p:cNvSpPr/>
          <p:nvPr/>
        </p:nvSpPr>
        <p:spPr>
          <a:xfrm>
            <a:off x="7424927" y="7199674"/>
            <a:ext cx="3181297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58" name="Text 56"/>
          <p:cNvSpPr/>
          <p:nvPr/>
        </p:nvSpPr>
        <p:spPr>
          <a:xfrm>
            <a:off x="10860144" y="7123593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56.7×*</a:t>
            </a:r>
            <a:endParaRPr lang="en-US" sz="1725" dirty="0"/>
          </a:p>
        </p:txBody>
      </p:sp>
      <p:sp>
        <p:nvSpPr>
          <p:cNvPr id="59" name="Text 57"/>
          <p:cNvSpPr/>
          <p:nvPr/>
        </p:nvSpPr>
        <p:spPr>
          <a:xfrm>
            <a:off x="952385" y="7561608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725" dirty="0"/>
          </a:p>
        </p:txBody>
      </p:sp>
      <p:sp>
        <p:nvSpPr>
          <p:cNvPr id="60" name="Text 58"/>
          <p:cNvSpPr/>
          <p:nvPr/>
        </p:nvSpPr>
        <p:spPr>
          <a:xfrm>
            <a:off x="1638074" y="7578998"/>
            <a:ext cx="2162796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Bulk UPDATE (write)</a:t>
            </a:r>
            <a:endParaRPr lang="en-US" sz="1650" dirty="0"/>
          </a:p>
        </p:txBody>
      </p:sp>
      <p:sp>
        <p:nvSpPr>
          <p:cNvPr id="61" name="Shape 59"/>
          <p:cNvSpPr/>
          <p:nvPr/>
        </p:nvSpPr>
        <p:spPr>
          <a:xfrm>
            <a:off x="7411889" y="7561608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62" name="Shape 60"/>
          <p:cNvSpPr/>
          <p:nvPr/>
        </p:nvSpPr>
        <p:spPr>
          <a:xfrm>
            <a:off x="7424927" y="7637690"/>
            <a:ext cx="324694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63" name="Text 61"/>
          <p:cNvSpPr/>
          <p:nvPr/>
        </p:nvSpPr>
        <p:spPr>
          <a:xfrm>
            <a:off x="10860144" y="7561608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1.51×*</a:t>
            </a:r>
            <a:endParaRPr lang="en-US" sz="1725" dirty="0"/>
          </a:p>
        </p:txBody>
      </p:sp>
      <p:sp>
        <p:nvSpPr>
          <p:cNvPr id="64" name="Text 62"/>
          <p:cNvSpPr/>
          <p:nvPr/>
        </p:nvSpPr>
        <p:spPr>
          <a:xfrm>
            <a:off x="952385" y="7999623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725" dirty="0"/>
          </a:p>
        </p:txBody>
      </p:sp>
      <p:sp>
        <p:nvSpPr>
          <p:cNvPr id="65" name="Text 63"/>
          <p:cNvSpPr/>
          <p:nvPr/>
        </p:nvSpPr>
        <p:spPr>
          <a:xfrm>
            <a:off x="1638074" y="8017014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evolution (write)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7411889" y="7999623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67" name="Shape 65"/>
          <p:cNvSpPr/>
          <p:nvPr/>
        </p:nvSpPr>
        <p:spPr>
          <a:xfrm>
            <a:off x="7424927" y="8075705"/>
            <a:ext cx="1183285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68" name="Text 66"/>
          <p:cNvSpPr/>
          <p:nvPr/>
        </p:nvSpPr>
        <p:spPr>
          <a:xfrm>
            <a:off x="10860144" y="7999623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4.49×*</a:t>
            </a:r>
            <a:endParaRPr lang="en-US" sz="1725" dirty="0"/>
          </a:p>
        </p:txBody>
      </p:sp>
      <p:sp>
        <p:nvSpPr>
          <p:cNvPr id="69" name="Text 67"/>
          <p:cNvSpPr/>
          <p:nvPr/>
        </p:nvSpPr>
        <p:spPr>
          <a:xfrm>
            <a:off x="952385" y="8818593"/>
            <a:ext cx="234108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wins (2)</a:t>
            </a:r>
            <a:endParaRPr lang="en-US" sz="1725" dirty="0"/>
          </a:p>
        </p:txBody>
      </p:sp>
      <p:sp>
        <p:nvSpPr>
          <p:cNvPr id="70" name="Text 68"/>
          <p:cNvSpPr/>
          <p:nvPr/>
        </p:nvSpPr>
        <p:spPr>
          <a:xfrm>
            <a:off x="3556837" y="8818593"/>
            <a:ext cx="1974045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(9) · not significant (1)</a:t>
            </a:r>
            <a:endParaRPr lang="en-US" sz="1725" dirty="0"/>
          </a:p>
        </p:txBody>
      </p:sp>
      <p:sp>
        <p:nvSpPr>
          <p:cNvPr id="71" name="Text 69"/>
          <p:cNvSpPr/>
          <p:nvPr/>
        </p:nvSpPr>
        <p:spPr>
          <a:xfrm>
            <a:off x="5827616" y="8827288"/>
            <a:ext cx="10031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11/12 significant · Mann-Whitney U, p &lt; 0.05, Holm-corrected · all results equivalent (multiset)</a:t>
            </a:r>
            <a:endParaRPr lang="en-US" sz="1575" dirty="0"/>
          </a:p>
        </p:txBody>
      </p:sp>
      <p:sp>
        <p:nvSpPr>
          <p:cNvPr id="72" name="Text 70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73" name="Text 71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14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12516" y="1569736"/>
            <a:ext cx="6669220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SHORTEST PATH, MESSI → PIRLO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814030" y="1960608"/>
            <a:ext cx="7325740" cy="3848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0" b="1" spc="-900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57×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1941452" y="5961031"/>
            <a:ext cx="15845412" cy="603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on Neo4j — a change of complexity class, not an optimisation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5813642" y="7192882"/>
            <a:ext cx="2626829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813642" y="7590682"/>
            <a:ext cx="2626829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671 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813642" y="8438998"/>
            <a:ext cx="2626829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recursive CTE (BFS)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19532" y="7192882"/>
            <a:ext cx="3179783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319532" y="7590682"/>
            <a:ext cx="3179783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ms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319532" y="8438998"/>
            <a:ext cx="317978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SHORTEST 1 path pattern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14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SAME QUESTION, TWO LANGUAGES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lines of recursive CTE vs 5 lines of Cypher — same answer, same semantics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5" name="Text 3"/>
          <p:cNvSpPr/>
          <p:nvPr/>
        </p:nvSpPr>
        <p:spPr>
          <a:xfrm>
            <a:off x="1333339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— RECURSIVE CTE (BFS)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33339" y="2963941"/>
            <a:ext cx="5886716" cy="579085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RECURSIVE bfs (player_api_id, distance) AS (</a:t>
            </a:r>
            <a:endParaRPr lang="en-US" sz="1388" dirty="0"/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src, 0 FROM endpoints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UNION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pf2.player_api_id, b.distance + 1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FROM   bfs b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pf1.player_api_id =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pf2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pf2.team_api_id = pf1.team_api_id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pf2.season      = pf1.season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pf2.player_api_id &lt;&gt;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WHERE  b.distance &lt; 6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)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SELECT MIN(distance) FROM bfs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WHERE  player_api_id = dst;</a:t>
            </a:r>
          </a:p>
        </p:txBody>
      </p:sp>
      <p:sp>
        <p:nvSpPr>
          <p:cNvPr id="7" name="Text 5"/>
          <p:cNvSpPr/>
          <p:nvPr/>
        </p:nvSpPr>
        <p:spPr>
          <a:xfrm>
            <a:off x="7677158" y="3763618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→ 5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7677158" y="4514656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lines of code</a:t>
            </a:r>
            <a:endParaRPr lang="en-US" sz="1575" dirty="0"/>
          </a:p>
        </p:txBody>
      </p:sp>
      <p:sp>
        <p:nvSpPr>
          <p:cNvPr id="9" name="Text 7"/>
          <p:cNvSpPr/>
          <p:nvPr/>
        </p:nvSpPr>
        <p:spPr>
          <a:xfrm>
            <a:off x="7677158" y="5118286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→ 5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7677158" y="5869325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logical operators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677158" y="6472955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671 → 12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77158" y="7223994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milliseconds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10858408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362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SHORTEST 1 PATH PATTERN (GQL)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11239362" y="4926179"/>
            <a:ext cx="4944243" cy="186624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225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(a:Player {name: $player_a}),</a:t>
            </a:r>
            <a:endParaRPr lang="en-US" sz="2250" dirty="0"/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      (b:Player {name: $player_b})</a:t>
            </a:r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MATCH path = SHORTEST 1 (a)</a:t>
            </a:r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  ((x:Player)-[r1:PLAYED_FOR]-&gt;(:Team)</a:t>
            </a:r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    &lt;-[r2:PLAYED_FOR]-(y:Player)</a:t>
            </a:r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    WHERE r1.season = r2.season){1,6}</a:t>
            </a:r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  (b)</a:t>
            </a:r>
          </a:p>
          <a:p>
            <a:r>
              <a:rPr sz="2250">
                <a:solidFill>
                  <a:srgbClr val="D5E5DC"/>
                </a:solidFill>
                <a:latin typeface="IBM Plex Mono"/>
              </a:rPr>
              <a:t>RETURN length(path) / 2;</a:t>
            </a:r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14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BEYOND MILLISECONDS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Cypher is not just faster: it's 4× shorter — and a schema change is one SET, not a migration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861773"/>
            <a:ext cx="6957435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7272" y="3289463"/>
            <a:ext cx="658642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CODE EXPRESSIVENESS — Q10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437272" y="3893093"/>
            <a:ext cx="1149773" cy="952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739362" y="4397409"/>
            <a:ext cx="2541124" cy="7163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lines of code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SQL → 5 Cypher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437272" y="5418403"/>
            <a:ext cx="2049964" cy="952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5×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529394" y="5922718"/>
            <a:ext cx="3063074" cy="7163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logical operators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SQL → 5 Cypher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37272" y="6943713"/>
            <a:ext cx="6167290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Verbosity measured on both axes across all 12 queries — Cypher wins on graph workloads on both.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90773" y="2861773"/>
            <a:ext cx="9044801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5661" y="3289463"/>
            <a:ext cx="888252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 EVOLUTION — Q12: ADD totalGoals TO EVERY MATCH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8775661" y="3817011"/>
            <a:ext cx="4294508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2 STEPS + LOCK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75661" y="4174733"/>
            <a:ext cx="3904098" cy="2171328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15" name="Text 13"/>
          <p:cNvSpPr/>
          <p:nvPr/>
        </p:nvSpPr>
        <p:spPr>
          <a:xfrm>
            <a:off x="9023311" y="4403333"/>
            <a:ext cx="3525921" cy="175222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ALTER TABLE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ADD COLUMN total_goals;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total_goals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home_goal + away_goal;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46453" y="3817011"/>
            <a:ext cx="4294657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1 STEP, NO DDL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946453" y="4174733"/>
            <a:ext cx="3904233" cy="1599898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18" name="Text 16"/>
          <p:cNvSpPr/>
          <p:nvPr/>
        </p:nvSpPr>
        <p:spPr>
          <a:xfrm>
            <a:off x="13194103" y="4403333"/>
            <a:ext cx="3526060" cy="118079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m.totalGoals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m.homeGoals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m.awayGoals;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5661" y="6612756"/>
            <a:ext cx="8317277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352 ms vs 78 ms (4.5×, measured through COMMIT)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same CPU work, radically different change-management: schema-on-write vs schema-on-read.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14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takeaways from twelve queries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2590595"/>
            <a:ext cx="5207004" cy="374989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9095" y="3056462"/>
            <a:ext cx="4744941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99095" y="3989826"/>
            <a:ext cx="444299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Where the depth is fixed, the relational join still wins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9095" y="4880122"/>
            <a:ext cx="444299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Two-hop teammates (Q09): with the same precomputed relation, B-tree joins beat the traversal 2.1× — and the gap widens with data. Light aggregations (&lt; 15 ms) are a dead heat: the winner flips between runs.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2590595"/>
            <a:ext cx="5207139" cy="374989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7053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6987053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where the depth is variable — by a class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6987053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 57× with identical semantics: the recursive CTE explores 44,251 states, SHORTEST 1 touches 4,402 db hits. Q07 (1.9×) and Q06 (3.6×) follow, and Neo4j's edge on Q07 grows with the data.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2590595"/>
            <a:ext cx="5207139" cy="374989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5145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12575145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flexibility is the forgotten dimension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12575145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SET vs ALTER + UPDATE: 4.5× measured through commit. In change-heavy environments this matters more than raw milliseconds.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385" y="7007160"/>
            <a:ext cx="16383190" cy="875759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380" y="7318960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2401884" y="7292875"/>
            <a:ext cx="11404561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node, single user, default configs. Four sensitivity analyses in the report: work_mem (no effect), Q10 semantics (fixed), MVCC bloat (VACUUM protocol), scaling on 2/4/8 seasons (measured).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14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"which is better" — which problem do you have?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65208"/>
            <a:ext cx="16383190" cy="33326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1080" y="3113523"/>
            <a:ext cx="2476472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6" name="Shape 4"/>
          <p:cNvSpPr/>
          <p:nvPr/>
        </p:nvSpPr>
        <p:spPr>
          <a:xfrm>
            <a:off x="3437552" y="3096133"/>
            <a:ext cx="6944664" cy="2608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7" name="Text 5"/>
          <p:cNvSpPr/>
          <p:nvPr/>
        </p:nvSpPr>
        <p:spPr>
          <a:xfrm>
            <a:off x="3761402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PostgreSQL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382215" y="3096133"/>
            <a:ext cx="6944664" cy="2608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9" name="Text 7"/>
          <p:cNvSpPr/>
          <p:nvPr/>
        </p:nvSpPr>
        <p:spPr>
          <a:xfrm>
            <a:off x="10706065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Neo4j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61080" y="3938742"/>
            <a:ext cx="2476472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1" name="Text 9"/>
          <p:cNvSpPr/>
          <p:nvPr/>
        </p:nvSpPr>
        <p:spPr>
          <a:xfrm>
            <a:off x="1284930" y="3369868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437552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3" name="Text 11"/>
          <p:cNvSpPr/>
          <p:nvPr/>
        </p:nvSpPr>
        <p:spPr>
          <a:xfrm>
            <a:off x="3761402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ACID transactions and strict constraints matter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0382215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0706065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is naturally a network of entities and events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961080" y="4763961"/>
            <a:ext cx="2476472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84930" y="4195087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3437552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3761402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Reporting and OLAP-style aggregations dominate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382215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706065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Queries traverse paths, neighbourhoods, communities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284930" y="5020306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761402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Stable and well understood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0706065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Evolves frequently and unpredictably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52385" y="6086838"/>
            <a:ext cx="6749323" cy="568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— live demo time →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2416380" y="6016870"/>
            <a:ext cx="4919194" cy="708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github.com/g1up3/DM-Project-2026 · reports/benchmark_report.md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15</a:t>
            </a:r>
            <a:endParaRPr lang="en-US" sz="14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ENGINEERING CHALLENGES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bugs only the full load reveals — all fixed upstream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1054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5,632 orphan player refs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61054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XML events referenced player IDs absent from Player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1054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nullified in transform.py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61054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100% FK integrity, only 0.5% of attributions lost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27707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36376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INTEGER NULL → "673.0"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936376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pandas float-serialised nullable integers; COPY rejected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6376" y="4277851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auto-detect and cast to Int64 before CSV write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36376" y="5051307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clean load + player_stats.csv shrunk 38 → 25 MB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103029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11698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card_type CHAR(1) too narrow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511698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schema didn't anticipate "y2", the second-yellow code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11698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widened to VARCHAR(2)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511698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kind of bug only the full load reveals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385" y="6690604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fix is small in isolation; together they make the pipeline reproducible end-to-end.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INDEX ABLATION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indexes both degrade: 3.5× on Postgres, 1.9× on Neo4j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728358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index-query pairs (4 PG + 3 Neo4j) — each dropped, measured over 10 runs, restored. Shown: Q08.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385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37272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ix_lineup_player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37272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3.2 ms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1437272" y="5123585"/>
            <a:ext cx="2039000" cy="323756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9" name="Text 7"/>
          <p:cNvSpPr/>
          <p:nvPr/>
        </p:nvSpPr>
        <p:spPr>
          <a:xfrm>
            <a:off x="1437272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11.2 ms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437272" y="5993774"/>
            <a:ext cx="7031343" cy="323756"/>
          </a:xfrm>
          <a:prstGeom prst="rect">
            <a:avLst/>
          </a:prstGeom>
          <a:solidFill>
            <a:srgbClr val="C6CFDA"/>
          </a:solidFill>
          <a:ln/>
        </p:spPr>
      </p:sp>
      <p:sp>
        <p:nvSpPr>
          <p:cNvPr id="11" name="Text 9"/>
          <p:cNvSpPr/>
          <p:nvPr/>
        </p:nvSpPr>
        <p:spPr>
          <a:xfrm>
            <a:off x="1437272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3.48× slowdown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456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9344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player_name_idx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819344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3.9 ms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9819344" y="5123585"/>
            <a:ext cx="3726527" cy="323756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6" name="Text 14"/>
          <p:cNvSpPr/>
          <p:nvPr/>
        </p:nvSpPr>
        <p:spPr>
          <a:xfrm>
            <a:off x="9819344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7.4 ms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9819344" y="5993774"/>
            <a:ext cx="7031343" cy="323756"/>
          </a:xfrm>
          <a:prstGeom prst="rect">
            <a:avLst/>
          </a:prstGeom>
          <a:solidFill>
            <a:srgbClr val="BFD8CC"/>
          </a:solidFill>
          <a:ln/>
        </p:spPr>
      </p:sp>
      <p:sp>
        <p:nvSpPr>
          <p:cNvPr id="18" name="Text 16"/>
          <p:cNvSpPr/>
          <p:nvPr/>
        </p:nvSpPr>
        <p:spPr>
          <a:xfrm>
            <a:off x="9819344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1.91× slowdown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LIMITATIONS, FUTURE WORK &amp; REFERENCES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this benchmark does not measure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379467"/>
            <a:ext cx="8039159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1054" y="2711919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Single-node, single-user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61054" y="3146266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Concurrency, lock contention and MVCC under load are out of scope.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280" y="2379467"/>
            <a:ext cx="8039295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949" y="2711919"/>
            <a:ext cx="7944151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tuning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04949" y="3146266"/>
            <a:ext cx="7438614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configs. work_mem tested on Q07: no effect. A shared_buffers / pagecache grid could shift close category-A races.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385" y="4777955"/>
            <a:ext cx="8039159" cy="1779641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1054" y="5110406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Medium scale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61054" y="5544753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Measured on 2/4/8 seasons: Neo4j's aggregation edge widens with data, Postgres' fixed-depth join edge too. LDBC-SNB scale is future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96280" y="4777955"/>
            <a:ext cx="8039295" cy="1779641"/>
          </a:xfrm>
          <a:prstGeom prst="rect">
            <a:avLst/>
          </a:prstGeom>
          <a:solidFill>
            <a:srgbClr val="FFFFFF"/>
          </a:solidFill>
          <a:ln w="17390">
            <a:solidFill>
              <a:srgbClr val="B0483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9713644" y="5119101"/>
            <a:ext cx="792502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work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13644" y="5553449"/>
            <a:ext cx="7420702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OLTP write-heavy workload · Citus vs Neo4j Fabric · hybrid polyglot architectures.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6976591"/>
            <a:ext cx="16874685" cy="757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Angles &amp; Gutierrez (2008), ACM Comp. Surveys · Vicknair et al. (2010), ACM SE · Holzschuher &amp; Peinl (2013), EDBT/ICDT · Erling et al. (2015), LDBC-SNB, SIGMOD · Robinson et al. (2015), Graph Databases 2nd ed.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2026-07-08T15:49:08Z</dcterms:created>
  <dcterms:modified xsi:type="dcterms:W3CDTF">2026-07-08T15:49:08Z</dcterms:modified>
</cp:coreProperties>
</file>